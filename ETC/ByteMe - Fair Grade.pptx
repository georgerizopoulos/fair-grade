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 name="Shape 31"/>
          <p:cNvSpPr/>
          <p:nvPr>
            <p:ph type="sldImg"/>
          </p:nvPr>
        </p:nvSpPr>
        <p:spPr>
          <a:prstGeom prst="rect">
            <a:avLst/>
          </a:prstGeom>
        </p:spPr>
        <p:txBody>
          <a:bodyPr/>
          <a:lstStyle/>
          <a:p>
            <a:pPr/>
          </a:p>
        </p:txBody>
      </p:sp>
      <p:sp>
        <p:nvSpPr>
          <p:cNvPr id="32" name="Shape 32"/>
          <p:cNvSpPr/>
          <p:nvPr>
            <p:ph type="body" sz="quarter" idx="1"/>
          </p:nvPr>
        </p:nvSpPr>
        <p:spPr>
          <a:prstGeom prst="rect">
            <a:avLst/>
          </a:prstGeom>
        </p:spPr>
        <p:txBody>
          <a:bodyPr/>
          <a:lstStyle/>
          <a:p>
            <a:pPr/>
            <a:r>
              <a:t>[0:10] Ξεκινάμε με το τι λύνουμε, σε μία πρόταση: στα μεγάλα μαθήματα η ίδια απάντηση μπορεί να πάρει άλλο βαθμό, ανάλογα με το ποιος TA τη διόρθωσε. Το Fair Grade το εντοπίζει πριν βγουν οι βαθμοί. Η οθόνη στο laptop είναι η πραγματική εφαρμογή.</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 name="Shape 52"/>
          <p:cNvSpPr/>
          <p:nvPr>
            <p:ph type="sldImg"/>
          </p:nvPr>
        </p:nvSpPr>
        <p:spPr>
          <a:prstGeom prst="rect">
            <a:avLst/>
          </a:prstGeom>
        </p:spPr>
        <p:txBody>
          <a:bodyPr/>
          <a:lstStyle/>
          <a:p>
            <a:pPr/>
          </a:p>
        </p:txBody>
      </p:sp>
      <p:sp>
        <p:nvSpPr>
          <p:cNvPr id="53" name="Shape 53"/>
          <p:cNvSpPr/>
          <p:nvPr>
            <p:ph type="body" sz="quarter" idx="1"/>
          </p:nvPr>
        </p:nvSpPr>
        <p:spPr>
          <a:prstGeom prst="rect">
            <a:avLst/>
          </a:prstGeom>
        </p:spPr>
        <p:txBody>
          <a:bodyPr/>
          <a:lstStyle/>
          <a:p>
            <a:pPr/>
            <a:r>
              <a:t>[0:40] Ρωτήστε την αίθουσα: ποιος έχει συγκρίνει βαθμό με συμφοιτητή και αναρωτήθηκε γιατί πήρε λιγότερο; Όλοι. Εδώ: η ίδια απάντηση σε ερώτηση 3 μονάδων, 1 από τον έναν βαθμολογητή, 2.5 από τον άλλον. Πείτε τους να θυμούνται αυτή την απάντηση: θα την ξαναδούμε στο demo.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Shape 84"/>
          <p:cNvSpPr/>
          <p:nvPr>
            <p:ph type="sldImg"/>
          </p:nvPr>
        </p:nvSpPr>
        <p:spPr>
          <a:prstGeom prst="rect">
            <a:avLst/>
          </a:prstGeom>
        </p:spPr>
        <p:txBody>
          <a:bodyPr/>
          <a:lstStyle/>
          <a:p>
            <a:pPr/>
          </a:p>
        </p:txBody>
      </p:sp>
      <p:sp>
        <p:nvSpPr>
          <p:cNvPr id="85" name="Shape 85"/>
          <p:cNvSpPr/>
          <p:nvPr>
            <p:ph type="body" sz="quarter" idx="1"/>
          </p:nvPr>
        </p:nvSpPr>
        <p:spPr>
          <a:prstGeom prst="rect">
            <a:avLst/>
          </a:prstGeom>
        </p:spPr>
        <p:txBody>
          <a:bodyPr/>
          <a:lstStyle/>
          <a:p>
            <a:pPr/>
            <a:r>
              <a:t>[0:30] Περάστε τα τέσσερα βήματα από αριστερά προς τα δεξιά. Τονίστε το βήμα 3: το AI δεν βλέπει ποτέ τις μονάδες του TA, άρα δεν επηρεάζεται από αυτές, και δεν ξέρει ποιος είναι ο φοιτητής. Γιατί AI; Κάθε TA διορθώνει διαφορετικά γραπτά· το AI διορθώνει όλα, άρα είναι το ένα κοινό μέτρο σύγκρισης για όλους τους TAs.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[0:10] Αποφασίστε έναν τρόπο πριν την παρουσίαση. (A) LIVE, προτείνεται: περάστε τώρα στον browser και κάντε τις περιπτώσεις 1 έως 7 στην εφαρμογή (περίπου 2:45), μετά γυρίστε στο deck και πηγαίνετε κατευθείαν στο slide 'A yardstick, not the judge'. Προετοιμασία: ένα παράθυρο Chrome συνδεδεμένο ως Instructor Demo στη σελίδα του HY335, και ένα incognito παράθυρο συνδεδεμένο ως Νίκος (TA) στο My papers. Πρέπει να είναι ξεχωριστά παράθυρα, αλλιώς το login του ενός πετάει έξω τον άλλον. Οι κωδικοί των demo λογαριασμών φαίνονται στη σελίδα login. (B) ΜΕ ΤΑ SLIDES: μένετε στο deck· τα επόμενα 7 slides είναι οι ίδιες οθόνες από την εφαρμογή. Αν κάτι σπάσει στο A, γυρίστε στο deck στην περίπτωση που ήσασταν.</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Shape 165"/>
          <p:cNvSpPr/>
          <p:nvPr>
            <p:ph type="sldImg"/>
          </p:nvPr>
        </p:nvSpPr>
        <p:spPr>
          <a:prstGeom prst="rect">
            <a:avLst/>
          </a:prstGeom>
        </p:spPr>
        <p:txBody>
          <a:bodyPr/>
          <a:lstStyle/>
          <a:p>
            <a:pPr/>
          </a:p>
        </p:txBody>
      </p:sp>
      <p:sp>
        <p:nvSpPr>
          <p:cNvPr id="166" name="Shape 166"/>
          <p:cNvSpPr/>
          <p:nvPr>
            <p:ph type="body" sz="quarter" idx="1"/>
          </p:nvPr>
        </p:nvSpPr>
        <p:spPr>
          <a:prstGeom prst="rect">
            <a:avLst/>
          </a:prstGeom>
        </p:spPr>
        <p:txBody>
          <a:bodyPr/>
          <a:lstStyle/>
          <a:p>
            <a:pPr/>
            <a:r>
              <a:t>[0:25] LIVE: ως Instructor Demo, HY335 → Midterm → Setup. Δείξτε την model answer του Q1 και μετά τις γραμμές του rubric. Πείτε: αυτό είναι το μέτρο με το οποίο βαθμολογούν όλοι οι TAs και το AI. Μετά δείξτε τη σημείωση ιδιωτικότητας κάτω από το πάνελ του AI: στο AI δεν πάνε ποτέ ονόματα, ΑΜ ή βαθμοί 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r>
              <a:t>[0:25] LIVE: περάστε στο incognito παράθυρο (Νίκος). My papers → csd5150 (draft) → Continue. Δείξτε τη μεταγραφή από το σκαναρισμένο γραπτό και το rubric από πάνω. Μην κάνετε submit το seeded draft αν δεν το θέλετε: η περίπτωση 3 χρησιμοποιεί το csd5146, που είναι ήδη βαθμολογημένο.</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[0:25] LIVE: My papers → csd5146 → View. TA 7, AI 8: μία μονάδα διαφορά, όλη στο Q2. Διαβάστε φωναχτά το σκεπτικό του AI, είναι σύντομο. Τονίστε ότι ο TA βλέπει τον βαθμό του AI μόνο αφού κάνει submit.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274"/>
          <p:cNvSpPr/>
          <p:nvPr>
            <p:ph type="sldImg"/>
          </p:nvPr>
        </p:nvSpPr>
        <p:spPr>
          <a:prstGeom prst="rect">
            <a:avLst/>
          </a:prstGeom>
        </p:spPr>
        <p:txBody>
          <a:bodyPr/>
          <a:lstStyle/>
          <a:p>
            <a:pPr/>
          </a:p>
        </p:txBody>
      </p:sp>
      <p:sp>
        <p:nvSpPr>
          <p:cNvPr id="275" name="Shape 275"/>
          <p:cNvSpPr/>
          <p:nvPr>
            <p:ph type="body" sz="quarter" idx="1"/>
          </p:nvPr>
        </p:nvSpPr>
        <p:spPr>
          <a:prstGeom prst="rect">
            <a:avLst/>
          </a:prstGeom>
        </p:spPr>
        <p:txBody>
          <a:bodyPr/>
          <a:lstStyle/>
          <a:p>
            <a:pPr/>
            <a:r>
              <a:t>[0:30] LIVE: γυρίστε στο παράθυρο του instructor, Midterm → Report. Μία διαφωνία είναι φυσιολογική: οι βαθμολογητές είναι άνθρωποι. Flag σημαίνει την ίδια απόκλιση, στην ίδια ερώτηση, σε όλα τα 12 γραπτά της Μαρίας.</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[0:25] LIVE: Review Maria's papers → scroll στο 'Papers behind the flag'. Θυμίστε το slide του προβλήματος: είναι η ίδια απάντηση. Δεν είναι μαύρο κουτί: το σκεπτικό είναι εκεί. Ο διδάσκων αποφασίζει· αν ξανανοίξει το γραπτό, κρατιούνται όλες οι εκδοχές.</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Shape 347"/>
          <p:cNvSpPr/>
          <p:nvPr>
            <p:ph type="sldImg"/>
          </p:nvPr>
        </p:nvSpPr>
        <p:spPr>
          <a:prstGeom prst="rect">
            <a:avLst/>
          </a:prstGeom>
        </p:spPr>
        <p:txBody>
          <a:bodyPr/>
          <a:lstStyle/>
          <a:p>
            <a:pPr/>
          </a:p>
        </p:txBody>
      </p:sp>
      <p:sp>
        <p:nvSpPr>
          <p:cNvPr id="348" name="Shape 348"/>
          <p:cNvSpPr/>
          <p:nvPr>
            <p:ph type="body" sz="quarter" idx="1"/>
          </p:nvPr>
        </p:nvSpPr>
        <p:spPr>
          <a:prstGeom prst="rect">
            <a:avLst/>
          </a:prstGeom>
        </p:spPr>
        <p:txBody>
          <a:bodyPr/>
          <a:lstStyle/>
          <a:p>
            <a:pPr/>
            <a:r>
              <a:t>[0:30] LIVE: Stats από το μενού αριστερά. Πρώτα η τάση (0.62 → 0.47), μετά τα 4 γραπτά όπου το πέρασα/κόπηκα εξαρτάται από τον βαθμολογητή (θα ξαναγυρίσουμε σε αυτό το νούμερο), μετά scroll στο leaderboard: η Κατερίνα είναι πιο κοντά στο AI με 0.12, η Μαρία τελευταία με 1.31.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Shape 376"/>
          <p:cNvSpPr/>
          <p:nvPr>
            <p:ph type="sldImg"/>
          </p:nvPr>
        </p:nvSpPr>
        <p:spPr>
          <a:prstGeom prst="rect">
            <a:avLst/>
          </a:prstGeom>
        </p:spPr>
        <p:txBody>
          <a:bodyPr/>
          <a:lstStyle/>
          <a:p>
            <a:pPr/>
          </a:p>
        </p:txBody>
      </p:sp>
      <p:sp>
        <p:nvSpPr>
          <p:cNvPr id="377" name="Shape 377"/>
          <p:cNvSpPr/>
          <p:nvPr>
            <p:ph type="body" sz="quarter" idx="1"/>
          </p:nvPr>
        </p:nvSpPr>
        <p:spPr>
          <a:prstGeom prst="rect">
            <a:avLst/>
          </a:prstGeom>
        </p:spPr>
        <p:txBody>
          <a:bodyPr/>
          <a:lstStyle/>
          <a:p>
            <a:pPr/>
            <a:r>
              <a:t>[0:15] LIVE: incognito παράθυρο (Νίκος) → My stats. Σύντομα: οι TAs βλέπουν πώς βαθμολογούν οι ίδιοι, για να διορθωθούν, χωρίς να δείχνει κανείς κανέναν με το δάχτυλο.</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Shape 403"/>
          <p:cNvSpPr/>
          <p:nvPr>
            <p:ph type="sldImg"/>
          </p:nvPr>
        </p:nvSpPr>
        <p:spPr>
          <a:prstGeom prst="rect">
            <a:avLst/>
          </a:prstGeom>
        </p:spPr>
        <p:txBody>
          <a:bodyPr/>
          <a:lstStyle/>
          <a:p>
            <a:pPr/>
          </a:p>
        </p:txBody>
      </p:sp>
      <p:sp>
        <p:nvSpPr>
          <p:cNvPr id="404" name="Shape 404"/>
          <p:cNvSpPr/>
          <p:nvPr>
            <p:ph type="body" sz="quarter" idx="1"/>
          </p:nvPr>
        </p:nvSpPr>
        <p:spPr>
          <a:prstGeom prst="rect">
            <a:avLst/>
          </a:prstGeom>
        </p:spPr>
        <p:txBody>
          <a:bodyPr/>
          <a:lstStyle/>
          <a:p>
            <a:pPr/>
            <a:r>
              <a:t>[0:20] Μία διαφωνία είναι φυσιολογική: οι βαθμολογητές είναι άνθρωποι. Flag σημαίνει σταθερή απόκλιση σε μία ερώτηση, αρκετά μεγάλη για να μετράει, σε πολλά γραπτά. Σε ερώτηση 3 μονάδων το όριο είναι ±0.45.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Shape 443"/>
          <p:cNvSpPr/>
          <p:nvPr>
            <p:ph type="sldImg"/>
          </p:nvPr>
        </p:nvSpPr>
        <p:spPr>
          <a:prstGeom prst="rect">
            <a:avLst/>
          </a:prstGeom>
        </p:spPr>
        <p:txBody>
          <a:bodyPr/>
          <a:lstStyle/>
          <a:p>
            <a:pPr/>
          </a:p>
        </p:txBody>
      </p:sp>
      <p:sp>
        <p:nvSpPr>
          <p:cNvPr id="444" name="Shape 444"/>
          <p:cNvSpPr/>
          <p:nvPr>
            <p:ph type="body" sz="quarter" idx="1"/>
          </p:nvPr>
        </p:nvSpPr>
        <p:spPr>
          <a:prstGeom prst="rect">
            <a:avLst/>
          </a:prstGeom>
        </p:spPr>
        <p:txBody>
          <a:bodyPr/>
          <a:lstStyle/>
          <a:p>
            <a:pPr/>
            <a:r>
              <a:t>[0:15] Τα στατιστικά δεν αποθηκεύονται: υπολογίζονται κάθε φορά από τις μονάδες TA και AI, άρα δεν ξεσυγχρονίζονται ποτέ. Οι κλήσεις στο AI τρέχουν σε background worker· αν αποτύχει το AI, ο βαθμός του TA έχει ήδη αποθηκευτεί.</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4" name="Shape 464"/>
          <p:cNvSpPr/>
          <p:nvPr>
            <p:ph type="sldImg"/>
          </p:nvPr>
        </p:nvSpPr>
        <p:spPr>
          <a:prstGeom prst="rect">
            <a:avLst/>
          </a:prstGeom>
        </p:spPr>
        <p:txBody>
          <a:bodyPr/>
          <a:lstStyle/>
          <a:p>
            <a:pPr/>
          </a:p>
        </p:txBody>
      </p:sp>
      <p:sp>
        <p:nvSpPr>
          <p:cNvPr id="465" name="Shape 465"/>
          <p:cNvSpPr/>
          <p:nvPr>
            <p:ph type="body" sz="quarter" idx="1"/>
          </p:nvPr>
        </p:nvSpPr>
        <p:spPr>
          <a:prstGeom prst="rect">
            <a:avLst/>
          </a:prstGeom>
        </p:spPr>
        <p:txBody>
          <a:bodyPr/>
          <a:lstStyle/>
          <a:p>
            <a:pPr/>
            <a:r>
              <a:t>[0:25] Πείτε το νούμερο αργά: τέσσερις φοιτητές που περνούν ή κόβονται ανάλογα με το ποιος τους διόρθωσε. Είναι το νούμερο από την περίπτωση 6. Μετά: η Epignosis φτιάχνει πλατφόρμες LMS, και οι ερωτήσεις, τα γραπτά και οι βαθμοί που χρειάζεται το Fair Grade υπάρχουν ήδη μέσα σε αυτές.</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1" name="Shape 501"/>
          <p:cNvSpPr/>
          <p:nvPr>
            <p:ph type="sldImg"/>
          </p:nvPr>
        </p:nvSpPr>
        <p:spPr>
          <a:prstGeom prst="rect">
            <a:avLst/>
          </a:prstGeom>
        </p:spPr>
        <p:txBody>
          <a:bodyPr/>
          <a:lstStyle/>
          <a:p>
            <a:pPr/>
          </a:p>
        </p:txBody>
      </p:sp>
      <p:sp>
        <p:nvSpPr>
          <p:cNvPr id="502" name="Shape 502"/>
          <p:cNvSpPr/>
          <p:nvPr>
            <p:ph type="body" sz="quarter" idx="1"/>
          </p:nvPr>
        </p:nvSpPr>
        <p:spPr>
          <a:prstGeom prst="rect">
            <a:avLst/>
          </a:prstGeom>
        </p:spPr>
        <p:txBody>
          <a:bodyPr/>
          <a:lstStyle/>
          <a:p>
            <a:pPr/>
            <a:r>
              <a:t>[0:35] Πείτε: και είμαστε σίγουροι ότι έχετε κάποιες από αυτές τις ερωτήσεις. Απαντήστε φωναχτά τις τρεις πρώτες (περίπου 10 δευτερόλεπτα η καθεμία), δείξτε τις υπόλοιπες και προχωρήστε. Στις ερωτήσεις μετά την παρουσίαση, γυρίστε σε αυτό το slide. Επιπλέον απαντήσεις αν ρωτήσουν: Αντικαθιστά τους TAs; Όχι, μετράει ο βαθμός του TA. Πώς κλιμακώνεται; Η βαθμολόγηση από το AI τρέχει σε background worker μετά το submit, οπότε ο TA δεν περιμένει ποτέ και ο βαθμός του αποθηκεύεται πρώτος. LMS; Οι ερωτήσεις, τα γραπτά και οι βαθμοί υπάρχουν ήδη στο LMS· η σύνδεση είναι το πρώτο μας επόμενο βήμα.</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6" name="Shape 526"/>
          <p:cNvSpPr/>
          <p:nvPr>
            <p:ph type="sldImg"/>
          </p:nvPr>
        </p:nvSpPr>
        <p:spPr>
          <a:prstGeom prst="rect">
            <a:avLst/>
          </a:prstGeom>
        </p:spPr>
        <p:txBody>
          <a:bodyPr/>
          <a:lstStyle/>
          <a:p>
            <a:pPr/>
          </a:p>
        </p:txBody>
      </p:sp>
      <p:sp>
        <p:nvSpPr>
          <p:cNvPr id="527" name="Shape 527"/>
          <p:cNvSpPr/>
          <p:nvPr>
            <p:ph type="body" sz="quarter" idx="1"/>
          </p:nvPr>
        </p:nvSpPr>
        <p:spPr>
          <a:prstGeom prst="rect">
            <a:avLst/>
          </a:prstGeom>
        </p:spPr>
        <p:txBody>
          <a:bodyPr/>
          <a:lstStyle/>
          <a:p>
            <a:pPr/>
            <a:r>
              <a:t>[0:10] Λίγα δευτερόλεπτα: είμαστε οι Byte Me, τέσσερις developers, και το φτιάξαμε μαζί σε δύο μέρες.</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7" name="Shape 537"/>
          <p:cNvSpPr/>
          <p:nvPr>
            <p:ph type="sldImg"/>
          </p:nvPr>
        </p:nvSpPr>
        <p:spPr>
          <a:prstGeom prst="rect">
            <a:avLst/>
          </a:prstGeom>
        </p:spPr>
        <p:txBody>
          <a:bodyPr/>
          <a:lstStyle/>
          <a:p>
            <a:pPr/>
          </a:p>
        </p:txBody>
      </p:sp>
      <p:sp>
        <p:nvSpPr>
          <p:cNvPr id="538" name="Shape 538"/>
          <p:cNvSpPr/>
          <p:nvPr>
            <p:ph type="body" sz="quarter" idx="1"/>
          </p:nvPr>
        </p:nvSpPr>
        <p:spPr>
          <a:prstGeom prst="rect">
            <a:avLst/>
          </a:prstGeom>
        </p:spPr>
        <p:txBody>
          <a:bodyPr/>
          <a:lstStyle/>
          <a:p>
            <a:pPr/>
            <a:r>
              <a:t>[0:10] Παύση μετά τον τίτλο. Μετά ανοίξτε για ερωτήσεις. Αν έρθει ερώτηση από το slide των ερωτήσεων, γυρίστε σε αυτό (δύο slides πίσω).</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20"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21" name="Shape 1"/>
          <p:cNvSpPr/>
          <p:nvPr/>
        </p:nvSpPr>
        <p:spPr>
          <a:xfrm>
            <a:off x="815941" y="1751284"/>
            <a:ext cx="2544235"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22" name="Text 2"/>
          <p:cNvSpPr txBox="1"/>
          <p:nvPr/>
        </p:nvSpPr>
        <p:spPr>
          <a:xfrm>
            <a:off x="1117510" y="1778801"/>
            <a:ext cx="1941097"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FuturEd AI Hackathon 2026</a:t>
            </a:r>
          </a:p>
        </p:txBody>
      </p:sp>
      <p:sp>
        <p:nvSpPr>
          <p:cNvPr id="23" name="Text 3"/>
          <p:cNvSpPr txBox="1"/>
          <p:nvPr/>
        </p:nvSpPr>
        <p:spPr>
          <a:xfrm>
            <a:off x="812767" y="2276739"/>
            <a:ext cx="4578351" cy="7733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800"/>
              </a:lnSpc>
              <a:defRPr b="1" spc="-300" sz="6200">
                <a:solidFill>
                  <a:srgbClr val="0E1116"/>
                </a:solidFill>
                <a:latin typeface="Geist"/>
                <a:ea typeface="Geist"/>
                <a:cs typeface="Geist"/>
                <a:sym typeface="Geist"/>
              </a:defRPr>
            </a:lvl1pPr>
          </a:lstStyle>
          <a:p>
            <a:pPr/>
            <a:r>
              <a:t>Fair Grade</a:t>
            </a:r>
          </a:p>
        </p:txBody>
      </p:sp>
      <p:sp>
        <p:nvSpPr>
          <p:cNvPr id="24" name="Text 4"/>
          <p:cNvSpPr txBox="1"/>
          <p:nvPr/>
        </p:nvSpPr>
        <p:spPr>
          <a:xfrm>
            <a:off x="812767" y="3253299"/>
            <a:ext cx="4578351" cy="6958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600"/>
              </a:lnSpc>
              <a:defRPr spc="-100" sz="2200">
                <a:solidFill>
                  <a:srgbClr val="0E1116"/>
                </a:solidFill>
                <a:latin typeface="Geist"/>
                <a:ea typeface="Geist"/>
                <a:cs typeface="Geist"/>
                <a:sym typeface="Geist"/>
              </a:defRPr>
            </a:pPr>
            <a:r>
              <a:t>Same answer, same grade. </a:t>
            </a:r>
            <a:r>
              <a:rPr>
                <a:solidFill>
                  <a:srgbClr val="8A8F99"/>
                </a:solidFill>
              </a:rPr>
              <a:t>Whoever grades it.</a:t>
            </a:r>
          </a:p>
        </p:txBody>
      </p:sp>
      <p:sp>
        <p:nvSpPr>
          <p:cNvPr id="25" name="Text 5"/>
          <p:cNvSpPr txBox="1"/>
          <p:nvPr/>
        </p:nvSpPr>
        <p:spPr>
          <a:xfrm>
            <a:off x="812766" y="4152346"/>
            <a:ext cx="4185922"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5B606B"/>
                </a:solidFill>
                <a:latin typeface="Geist"/>
                <a:ea typeface="Geist"/>
                <a:cs typeface="Geist"/>
                <a:sym typeface="Geist"/>
              </a:defRPr>
            </a:lvl1pPr>
          </a:lstStyle>
          <a:p>
            <a:pPr/>
            <a:r>
              <a:t>We catch inconsistent grading between TAs before grades are published.</a:t>
            </a:r>
          </a:p>
        </p:txBody>
      </p:sp>
      <p:sp>
        <p:nvSpPr>
          <p:cNvPr id="26" name="Text 6"/>
          <p:cNvSpPr txBox="1"/>
          <p:nvPr/>
        </p:nvSpPr>
        <p:spPr>
          <a:xfrm>
            <a:off x="812767" y="4896527"/>
            <a:ext cx="457835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Team Byte Me</a:t>
            </a:r>
          </a:p>
        </p:txBody>
      </p:sp>
      <p:pic>
        <p:nvPicPr>
          <p:cNvPr id="27" name="Image 0" descr="Image 0"/>
          <p:cNvPicPr>
            <a:picLocks noChangeAspect="1"/>
          </p:cNvPicPr>
          <p:nvPr/>
        </p:nvPicPr>
        <p:blipFill>
          <a:blip r:embed="rId3">
            <a:extLst/>
          </a:blip>
          <a:stretch>
            <a:fillRect/>
          </a:stretch>
        </p:blipFill>
        <p:spPr>
          <a:xfrm>
            <a:off x="6064363" y="3987767"/>
            <a:ext cx="4914491" cy="215884"/>
          </a:xfrm>
          <a:prstGeom prst="rect">
            <a:avLst/>
          </a:prstGeom>
          <a:ln w="12700">
            <a:miter lim="400000"/>
          </a:ln>
        </p:spPr>
      </p:pic>
      <p:pic>
        <p:nvPicPr>
          <p:cNvPr id="28" name="Image 1" descr="Image 1"/>
          <p:cNvPicPr>
            <a:picLocks noChangeAspect="1"/>
          </p:cNvPicPr>
          <p:nvPr/>
        </p:nvPicPr>
        <p:blipFill>
          <a:blip r:embed="rId4">
            <a:extLst/>
          </a:blip>
          <a:stretch>
            <a:fillRect/>
          </a:stretch>
        </p:blipFill>
        <p:spPr>
          <a:xfrm>
            <a:off x="5664150" y="814290"/>
            <a:ext cx="5715001" cy="3311645"/>
          </a:xfrm>
          <a:prstGeom prst="rect">
            <a:avLst/>
          </a:prstGeom>
          <a:ln w="12700">
            <a:miter lim="400000"/>
          </a:ln>
        </p:spPr>
      </p:pic>
      <p:pic>
        <p:nvPicPr>
          <p:cNvPr id="29" name="Image 2" descr="Image 2"/>
          <p:cNvPicPr>
            <a:picLocks noChangeAspect="1"/>
          </p:cNvPicPr>
          <p:nvPr/>
        </p:nvPicPr>
        <p:blipFill>
          <a:blip r:embed="rId5">
            <a:extLst/>
          </a:blip>
          <a:stretch>
            <a:fillRect/>
          </a:stretch>
        </p:blipFill>
        <p:spPr>
          <a:xfrm>
            <a:off x="6343591" y="1035016"/>
            <a:ext cx="4368768" cy="2730501"/>
          </a:xfrm>
          <a:prstGeom prst="rect">
            <a:avLst/>
          </a:prstGeom>
          <a:ln w="12700">
            <a:miter lim="400000"/>
          </a:ln>
        </p:spPr>
      </p:pic>
      <p:sp>
        <p:nvSpPr>
          <p:cNvPr id="30" name="Shape 7"/>
          <p:cNvSpPr/>
          <p:nvPr/>
        </p:nvSpPr>
        <p:spPr>
          <a:xfrm>
            <a:off x="6343591" y="1035016"/>
            <a:ext cx="4368768" cy="2730501"/>
          </a:xfrm>
          <a:prstGeom prst="rect">
            <a:avLst/>
          </a:prstGeom>
          <a:gradFill>
            <a:gsLst>
              <a:gs pos="0">
                <a:srgbClr val="FFFFFF">
                  <a:alpha val="10000"/>
                </a:srgbClr>
              </a:gs>
              <a:gs pos="30000">
                <a:srgbClr val="FFFFFF">
                  <a:alpha val="3000"/>
                </a:srgbClr>
              </a:gs>
              <a:gs pos="45000">
                <a:srgbClr val="FFFFFF">
                  <a:alpha val="0"/>
                </a:srgbClr>
              </a:gs>
            </a:gsLst>
            <a:lin ang="1679999"/>
          </a:gra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34"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35" name="Shape 1"/>
          <p:cNvSpPr/>
          <p:nvPr/>
        </p:nvSpPr>
        <p:spPr>
          <a:xfrm>
            <a:off x="815941" y="1562976"/>
            <a:ext cx="1264064"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36" name="Text 2"/>
          <p:cNvSpPr txBox="1"/>
          <p:nvPr/>
        </p:nvSpPr>
        <p:spPr>
          <a:xfrm>
            <a:off x="1011931" y="1590492"/>
            <a:ext cx="872084"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The problem</a:t>
            </a:r>
          </a:p>
        </p:txBody>
      </p:sp>
      <p:sp>
        <p:nvSpPr>
          <p:cNvPr id="37" name="Text 3"/>
          <p:cNvSpPr txBox="1"/>
          <p:nvPr/>
        </p:nvSpPr>
        <p:spPr>
          <a:xfrm>
            <a:off x="812767" y="2088431"/>
            <a:ext cx="4970780" cy="162555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200"/>
              </a:lnSpc>
              <a:defRPr b="1" spc="-200" sz="4000">
                <a:solidFill>
                  <a:srgbClr val="0E1116"/>
                </a:solidFill>
                <a:latin typeface="Geist"/>
                <a:ea typeface="Geist"/>
                <a:cs typeface="Geist"/>
                <a:sym typeface="Geist"/>
              </a:defRPr>
            </a:lvl1pPr>
          </a:lstStyle>
          <a:p>
            <a:pPr/>
            <a:r>
              <a:t>Same answer. Different grader. Different grade.</a:t>
            </a:r>
          </a:p>
        </p:txBody>
      </p:sp>
      <p:sp>
        <p:nvSpPr>
          <p:cNvPr id="38" name="Text 4"/>
          <p:cNvSpPr txBox="1"/>
          <p:nvPr/>
        </p:nvSpPr>
        <p:spPr>
          <a:xfrm>
            <a:off x="812767" y="3917155"/>
            <a:ext cx="4709160" cy="140640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sz="1500">
                <a:solidFill>
                  <a:srgbClr val="5B606B"/>
                </a:solidFill>
                <a:latin typeface="Geist"/>
                <a:ea typeface="Geist"/>
                <a:cs typeface="Geist"/>
                <a:sym typeface="Geist"/>
              </a:defRPr>
            </a:lvl1pPr>
          </a:lstStyle>
          <a:p>
            <a:pPr/>
            <a:r>
              <a:t>Big courses split the papers between several TAs, and each one reads the rubric a little differently. Students compare grades and notice. Instructors usually find out from complaints, after grades are out.</a:t>
            </a:r>
          </a:p>
        </p:txBody>
      </p:sp>
      <p:sp>
        <p:nvSpPr>
          <p:cNvPr id="39" name="Shape 5"/>
          <p:cNvSpPr/>
          <p:nvPr/>
        </p:nvSpPr>
        <p:spPr>
          <a:xfrm rot="21510000">
            <a:off x="6248386" y="1545629"/>
            <a:ext cx="5130801" cy="2387601"/>
          </a:xfrm>
          <a:prstGeom prst="roundRect">
            <a:avLst>
              <a:gd name="adj" fmla="val 2660"/>
            </a:avLst>
          </a:prstGeom>
          <a:gradFill>
            <a:gsLst>
              <a:gs pos="0">
                <a:srgbClr val="FBFBF8"/>
              </a:gs>
              <a:gs pos="98333">
                <a:srgbClr val="FBFBF8"/>
              </a:gs>
              <a:gs pos="100000">
                <a:srgbClr val="3358D4">
                  <a:alpha val="16000"/>
                </a:srgbClr>
              </a:gs>
            </a:gsLst>
            <a:lin ang="5400000"/>
          </a:gradFill>
          <a:ln w="12700">
            <a:miter lim="400000"/>
          </a:ln>
        </p:spPr>
        <p:txBody>
          <a:bodyPr lIns="45719" rIns="45719"/>
          <a:lstStyle/>
          <a:p>
            <a:pPr/>
          </a:p>
        </p:txBody>
      </p:sp>
      <p:sp>
        <p:nvSpPr>
          <p:cNvPr id="40" name="Shape 6"/>
          <p:cNvSpPr/>
          <p:nvPr/>
        </p:nvSpPr>
        <p:spPr>
          <a:xfrm>
            <a:off x="6509661" y="1834239"/>
            <a:ext cx="49868" cy="1904348"/>
          </a:xfrm>
          <a:prstGeom prst="line">
            <a:avLst/>
          </a:prstGeom>
          <a:ln w="12700">
            <a:solidFill>
              <a:srgbClr val="D64545">
                <a:alpha val="45000"/>
              </a:srgbClr>
            </a:solidFill>
          </a:ln>
        </p:spPr>
        <p:txBody>
          <a:bodyPr lIns="45719" rIns="45719"/>
          <a:lstStyle/>
          <a:p>
            <a:pPr/>
          </a:p>
        </p:txBody>
      </p:sp>
      <p:sp>
        <p:nvSpPr>
          <p:cNvPr id="41" name="Text 7"/>
          <p:cNvSpPr txBox="1"/>
          <p:nvPr/>
        </p:nvSpPr>
        <p:spPr>
          <a:xfrm rot="21510000">
            <a:off x="6684529" y="1770795"/>
            <a:ext cx="449986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1200">
                <a:solidFill>
                  <a:srgbClr val="8A8F99"/>
                </a:solidFill>
                <a:latin typeface="Geist Mono"/>
                <a:ea typeface="Geist Mono"/>
                <a:cs typeface="Geist Mono"/>
                <a:sym typeface="Geist Mono"/>
              </a:defRPr>
            </a:lvl1pPr>
          </a:lstStyle>
          <a:p>
            <a:pPr/>
            <a:r>
              <a:t>HY335 Midterm · Q2 · csd5108</a:t>
            </a:r>
          </a:p>
        </p:txBody>
      </p:sp>
      <p:sp>
        <p:nvSpPr>
          <p:cNvPr id="42" name="Text 8"/>
          <p:cNvSpPr txBox="1"/>
          <p:nvPr/>
        </p:nvSpPr>
        <p:spPr>
          <a:xfrm rot="21510000">
            <a:off x="6694502" y="2151645"/>
            <a:ext cx="449986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400">
                <a:solidFill>
                  <a:srgbClr val="1F2A44"/>
                </a:solidFill>
                <a:latin typeface="Caveat"/>
                <a:ea typeface="Caveat"/>
                <a:cs typeface="Caveat"/>
                <a:sym typeface="Caveat"/>
              </a:defRPr>
            </a:lvl1pPr>
          </a:lstStyle>
          <a:p>
            <a:pPr/>
            <a:r>
              <a:t>2. TCP is reliable and</a:t>
            </a:r>
          </a:p>
        </p:txBody>
      </p:sp>
      <p:sp>
        <p:nvSpPr>
          <p:cNvPr id="43" name="Text 9"/>
          <p:cNvSpPr txBox="1"/>
          <p:nvPr/>
        </p:nvSpPr>
        <p:spPr>
          <a:xfrm rot="21510000">
            <a:off x="6704476" y="2532514"/>
            <a:ext cx="449986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400">
                <a:solidFill>
                  <a:srgbClr val="1F2A44"/>
                </a:solidFill>
                <a:latin typeface="Caveat"/>
                <a:ea typeface="Caveat"/>
                <a:cs typeface="Caveat"/>
                <a:sym typeface="Caveat"/>
              </a:defRPr>
            </a:lvl1pPr>
          </a:lstStyle>
          <a:p>
            <a:pPr/>
            <a:r>
              <a:t>connection-oriented, UDP is</a:t>
            </a:r>
          </a:p>
        </p:txBody>
      </p:sp>
      <p:sp>
        <p:nvSpPr>
          <p:cNvPr id="44" name="Text 10"/>
          <p:cNvSpPr txBox="1"/>
          <p:nvPr/>
        </p:nvSpPr>
        <p:spPr>
          <a:xfrm rot="21510000">
            <a:off x="6714449" y="2913383"/>
            <a:ext cx="449986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400">
                <a:solidFill>
                  <a:srgbClr val="1F2A44"/>
                </a:solidFill>
                <a:latin typeface="Caveat"/>
                <a:ea typeface="Caveat"/>
                <a:cs typeface="Caveat"/>
                <a:sym typeface="Caveat"/>
              </a:defRPr>
            </a:lvl1pPr>
          </a:lstStyle>
          <a:p>
            <a:pPr/>
            <a:r>
              <a:t>faster with no setup. Web</a:t>
            </a:r>
          </a:p>
        </p:txBody>
      </p:sp>
      <p:sp>
        <p:nvSpPr>
          <p:cNvPr id="45" name="Text 11"/>
          <p:cNvSpPr txBox="1"/>
          <p:nvPr/>
        </p:nvSpPr>
        <p:spPr>
          <a:xfrm rot="21510000">
            <a:off x="6724422" y="3294253"/>
            <a:ext cx="449986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sz="2400">
                <a:solidFill>
                  <a:srgbClr val="1F2A44"/>
                </a:solidFill>
                <a:latin typeface="Caveat"/>
                <a:ea typeface="Caveat"/>
                <a:cs typeface="Caveat"/>
                <a:sym typeface="Caveat"/>
              </a:defRPr>
            </a:lvl1pPr>
          </a:lstStyle>
          <a:p>
            <a:pPr/>
            <a:r>
              <a:t>uses TCP, video calls UDP.</a:t>
            </a:r>
          </a:p>
        </p:txBody>
      </p:sp>
      <p:sp>
        <p:nvSpPr>
          <p:cNvPr id="46" name="Shape 12"/>
          <p:cNvSpPr/>
          <p:nvPr/>
        </p:nvSpPr>
        <p:spPr>
          <a:xfrm>
            <a:off x="6248341" y="4187195"/>
            <a:ext cx="2501926" cy="1125100"/>
          </a:xfrm>
          <a:prstGeom prst="roundRect">
            <a:avLst>
              <a:gd name="adj" fmla="val 12417"/>
            </a:avLst>
          </a:prstGeom>
          <a:solidFill>
            <a:srgbClr val="FCEEEE"/>
          </a:solidFill>
          <a:ln w="12700">
            <a:miter lim="400000"/>
          </a:ln>
        </p:spPr>
        <p:txBody>
          <a:bodyPr lIns="45719" rIns="45719"/>
          <a:lstStyle/>
          <a:p>
            <a:pPr/>
          </a:p>
        </p:txBody>
      </p:sp>
      <p:sp>
        <p:nvSpPr>
          <p:cNvPr id="47" name="Text 13"/>
          <p:cNvSpPr txBox="1"/>
          <p:nvPr/>
        </p:nvSpPr>
        <p:spPr>
          <a:xfrm>
            <a:off x="6451534" y="4339580"/>
            <a:ext cx="2158409"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82E2E"/>
                </a:solidFill>
                <a:latin typeface="Geist"/>
                <a:ea typeface="Geist"/>
                <a:cs typeface="Geist"/>
                <a:sym typeface="Geist"/>
              </a:defRPr>
            </a:lvl1pPr>
          </a:lstStyle>
          <a:p>
            <a:pPr/>
            <a:r>
              <a:t>Grader A</a:t>
            </a:r>
          </a:p>
        </p:txBody>
      </p:sp>
      <p:sp>
        <p:nvSpPr>
          <p:cNvPr id="48" name="Text 14"/>
          <p:cNvSpPr txBox="1"/>
          <p:nvPr/>
        </p:nvSpPr>
        <p:spPr>
          <a:xfrm>
            <a:off x="6451534" y="4590975"/>
            <a:ext cx="2158409" cy="59433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pc="-100" sz="3200">
                <a:solidFill>
                  <a:srgbClr val="A82E2E"/>
                </a:solidFill>
                <a:latin typeface="Geist"/>
                <a:ea typeface="Geist"/>
                <a:cs typeface="Geist"/>
                <a:sym typeface="Geist"/>
              </a:defRPr>
            </a:lvl1pPr>
          </a:lstStyle>
          <a:p>
            <a:pPr/>
            <a:r>
              <a:t>1 / 3</a:t>
            </a:r>
          </a:p>
        </p:txBody>
      </p:sp>
      <p:sp>
        <p:nvSpPr>
          <p:cNvPr id="49" name="Shape 15"/>
          <p:cNvSpPr/>
          <p:nvPr/>
        </p:nvSpPr>
        <p:spPr>
          <a:xfrm>
            <a:off x="8877266" y="4187195"/>
            <a:ext cx="2501967" cy="1125100"/>
          </a:xfrm>
          <a:prstGeom prst="roundRect">
            <a:avLst>
              <a:gd name="adj" fmla="val 12417"/>
            </a:avLst>
          </a:prstGeom>
          <a:solidFill>
            <a:srgbClr val="EDF1FD"/>
          </a:solidFill>
          <a:ln w="12700">
            <a:miter lim="400000"/>
          </a:ln>
        </p:spPr>
        <p:txBody>
          <a:bodyPr lIns="45719" rIns="45719"/>
          <a:lstStyle/>
          <a:p>
            <a:pPr/>
          </a:p>
        </p:txBody>
      </p:sp>
      <p:sp>
        <p:nvSpPr>
          <p:cNvPr id="50" name="Text 16"/>
          <p:cNvSpPr txBox="1"/>
          <p:nvPr/>
        </p:nvSpPr>
        <p:spPr>
          <a:xfrm>
            <a:off x="9080458" y="4339580"/>
            <a:ext cx="2158451"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2A47AE"/>
                </a:solidFill>
                <a:latin typeface="Geist"/>
                <a:ea typeface="Geist"/>
                <a:cs typeface="Geist"/>
                <a:sym typeface="Geist"/>
              </a:defRPr>
            </a:lvl1pPr>
          </a:lstStyle>
          <a:p>
            <a:pPr/>
            <a:r>
              <a:t>Grader B</a:t>
            </a:r>
          </a:p>
        </p:txBody>
      </p:sp>
      <p:sp>
        <p:nvSpPr>
          <p:cNvPr id="51" name="Text 17"/>
          <p:cNvSpPr txBox="1"/>
          <p:nvPr/>
        </p:nvSpPr>
        <p:spPr>
          <a:xfrm>
            <a:off x="9080458" y="4590975"/>
            <a:ext cx="2158451" cy="59433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4400"/>
              </a:lnSpc>
              <a:defRPr b="1" spc="-100" sz="3200">
                <a:solidFill>
                  <a:srgbClr val="2A47AE"/>
                </a:solidFill>
                <a:latin typeface="Geist"/>
                <a:ea typeface="Geist"/>
                <a:cs typeface="Geist"/>
                <a:sym typeface="Geist"/>
              </a:defRPr>
            </a:lvl1pPr>
          </a:lstStyle>
          <a:p>
            <a:pPr/>
            <a:r>
              <a:t>2.5 / 3</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55"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56" name="Shape 1"/>
          <p:cNvSpPr/>
          <p:nvPr/>
        </p:nvSpPr>
        <p:spPr>
          <a:xfrm>
            <a:off x="815941" y="815940"/>
            <a:ext cx="1355511"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57" name="Text 2"/>
          <p:cNvSpPr txBox="1"/>
          <p:nvPr/>
        </p:nvSpPr>
        <p:spPr>
          <a:xfrm>
            <a:off x="1028491" y="843457"/>
            <a:ext cx="930411"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How it works</a:t>
            </a:r>
          </a:p>
        </p:txBody>
      </p:sp>
      <p:sp>
        <p:nvSpPr>
          <p:cNvPr id="58" name="Text 3"/>
          <p:cNvSpPr txBox="1"/>
          <p:nvPr/>
        </p:nvSpPr>
        <p:spPr>
          <a:xfrm>
            <a:off x="812766" y="1290587"/>
            <a:ext cx="10883462" cy="5054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700"/>
              </a:lnSpc>
              <a:defRPr b="1" spc="-200" sz="3600">
                <a:solidFill>
                  <a:srgbClr val="0E1116"/>
                </a:solidFill>
                <a:latin typeface="Geist"/>
                <a:ea typeface="Geist"/>
                <a:cs typeface="Geist"/>
                <a:sym typeface="Geist"/>
              </a:defRPr>
            </a:lvl1pPr>
          </a:lstStyle>
          <a:p>
            <a:pPr/>
            <a:r>
              <a:t>Two grades for every paper</a:t>
            </a:r>
          </a:p>
        </p:txBody>
      </p:sp>
      <p:sp>
        <p:nvSpPr>
          <p:cNvPr id="59" name="Shape 4"/>
          <p:cNvSpPr/>
          <p:nvPr/>
        </p:nvSpPr>
        <p:spPr>
          <a:xfrm>
            <a:off x="815941" y="2631108"/>
            <a:ext cx="2540018" cy="2277418"/>
          </a:xfrm>
          <a:prstGeom prst="roundRect">
            <a:avLst>
              <a:gd name="adj" fmla="val 8783"/>
            </a:avLst>
          </a:prstGeom>
          <a:solidFill>
            <a:srgbClr val="0E1116">
              <a:alpha val="3000"/>
            </a:srgbClr>
          </a:solidFill>
          <a:ln w="6350">
            <a:solidFill>
              <a:srgbClr val="0E1116">
                <a:alpha val="6000"/>
              </a:srgbClr>
            </a:solidFill>
          </a:ln>
        </p:spPr>
        <p:txBody>
          <a:bodyPr lIns="45719" rIns="45719"/>
          <a:lstStyle/>
          <a:p>
            <a:pPr/>
          </a:p>
        </p:txBody>
      </p:sp>
      <p:sp>
        <p:nvSpPr>
          <p:cNvPr id="60" name="Shape 5"/>
          <p:cNvSpPr/>
          <p:nvPr/>
        </p:nvSpPr>
        <p:spPr>
          <a:xfrm>
            <a:off x="868824" y="2683991"/>
            <a:ext cx="2434251" cy="2159001"/>
          </a:xfrm>
          <a:prstGeom prst="roundRect">
            <a:avLst>
              <a:gd name="adj" fmla="val 7059"/>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61" name="Image 0" descr="Image 0"/>
          <p:cNvPicPr>
            <a:picLocks noChangeAspect="1"/>
          </p:cNvPicPr>
          <p:nvPr/>
        </p:nvPicPr>
        <p:blipFill>
          <a:blip r:embed="rId3">
            <a:extLst/>
          </a:blip>
          <a:stretch>
            <a:fillRect/>
          </a:stretch>
        </p:blipFill>
        <p:spPr>
          <a:xfrm>
            <a:off x="1097401" y="2912566"/>
            <a:ext cx="279384" cy="279384"/>
          </a:xfrm>
          <a:prstGeom prst="rect">
            <a:avLst/>
          </a:prstGeom>
          <a:ln w="12700">
            <a:miter lim="400000"/>
          </a:ln>
        </p:spPr>
      </p:pic>
      <p:sp>
        <p:nvSpPr>
          <p:cNvPr id="62" name="Text 6"/>
          <p:cNvSpPr txBox="1"/>
          <p:nvPr/>
        </p:nvSpPr>
        <p:spPr>
          <a:xfrm>
            <a:off x="2891606" y="2945596"/>
            <a:ext cx="2336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01</a:t>
            </a:r>
          </a:p>
        </p:txBody>
      </p:sp>
      <p:sp>
        <p:nvSpPr>
          <p:cNvPr id="63" name="Text 7"/>
          <p:cNvSpPr txBox="1"/>
          <p:nvPr/>
        </p:nvSpPr>
        <p:spPr>
          <a:xfrm>
            <a:off x="1097401" y="3293524"/>
            <a:ext cx="2036412"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Set up</a:t>
            </a:r>
          </a:p>
        </p:txBody>
      </p:sp>
      <p:sp>
        <p:nvSpPr>
          <p:cNvPr id="64" name="Text 8"/>
          <p:cNvSpPr txBox="1"/>
          <p:nvPr/>
        </p:nvSpPr>
        <p:spPr>
          <a:xfrm>
            <a:off x="1097401" y="3669439"/>
            <a:ext cx="2036412" cy="743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instructor adds each question, its model answer and the rubric.</a:t>
            </a:r>
          </a:p>
        </p:txBody>
      </p:sp>
      <p:sp>
        <p:nvSpPr>
          <p:cNvPr id="65" name="Shape 9"/>
          <p:cNvSpPr/>
          <p:nvPr/>
        </p:nvSpPr>
        <p:spPr>
          <a:xfrm>
            <a:off x="3489307" y="2631108"/>
            <a:ext cx="2540018" cy="2277418"/>
          </a:xfrm>
          <a:prstGeom prst="roundRect">
            <a:avLst>
              <a:gd name="adj" fmla="val 8783"/>
            </a:avLst>
          </a:prstGeom>
          <a:solidFill>
            <a:srgbClr val="0E1116">
              <a:alpha val="3000"/>
            </a:srgbClr>
          </a:solidFill>
          <a:ln w="6350">
            <a:solidFill>
              <a:srgbClr val="0E1116">
                <a:alpha val="6000"/>
              </a:srgbClr>
            </a:solidFill>
          </a:ln>
        </p:spPr>
        <p:txBody>
          <a:bodyPr lIns="45719" rIns="45719"/>
          <a:lstStyle/>
          <a:p>
            <a:pPr/>
          </a:p>
        </p:txBody>
      </p:sp>
      <p:sp>
        <p:nvSpPr>
          <p:cNvPr id="66" name="Shape 10"/>
          <p:cNvSpPr/>
          <p:nvPr/>
        </p:nvSpPr>
        <p:spPr>
          <a:xfrm>
            <a:off x="3542191" y="2683991"/>
            <a:ext cx="2434251" cy="2171651"/>
          </a:xfrm>
          <a:prstGeom prst="roundRect">
            <a:avLst>
              <a:gd name="adj" fmla="val 7018"/>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67" name="Image 1" descr="Image 1"/>
          <p:cNvPicPr>
            <a:picLocks noChangeAspect="1"/>
          </p:cNvPicPr>
          <p:nvPr/>
        </p:nvPicPr>
        <p:blipFill>
          <a:blip r:embed="rId4">
            <a:extLst/>
          </a:blip>
          <a:stretch>
            <a:fillRect/>
          </a:stretch>
        </p:blipFill>
        <p:spPr>
          <a:xfrm>
            <a:off x="3770767" y="2912566"/>
            <a:ext cx="279384" cy="279384"/>
          </a:xfrm>
          <a:prstGeom prst="rect">
            <a:avLst/>
          </a:prstGeom>
          <a:ln w="12700">
            <a:miter lim="400000"/>
          </a:ln>
        </p:spPr>
      </p:pic>
      <p:sp>
        <p:nvSpPr>
          <p:cNvPr id="68" name="Text 11"/>
          <p:cNvSpPr txBox="1"/>
          <p:nvPr/>
        </p:nvSpPr>
        <p:spPr>
          <a:xfrm>
            <a:off x="5564973" y="2945596"/>
            <a:ext cx="2336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02</a:t>
            </a:r>
          </a:p>
        </p:txBody>
      </p:sp>
      <p:sp>
        <p:nvSpPr>
          <p:cNvPr id="69" name="Text 12"/>
          <p:cNvSpPr txBox="1"/>
          <p:nvPr/>
        </p:nvSpPr>
        <p:spPr>
          <a:xfrm>
            <a:off x="3770767" y="3293524"/>
            <a:ext cx="203641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Scan and grade</a:t>
            </a:r>
          </a:p>
        </p:txBody>
      </p:sp>
      <p:sp>
        <p:nvSpPr>
          <p:cNvPr id="70" name="Text 13"/>
          <p:cNvSpPr txBox="1"/>
          <p:nvPr/>
        </p:nvSpPr>
        <p:spPr>
          <a:xfrm>
            <a:off x="3770767" y="3669439"/>
            <a:ext cx="2036413" cy="98302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TA uploads the scanned paper. A vision model transcribes it, the TA grades each answer.</a:t>
            </a:r>
          </a:p>
        </p:txBody>
      </p:sp>
      <p:sp>
        <p:nvSpPr>
          <p:cNvPr id="71" name="Shape 14"/>
          <p:cNvSpPr/>
          <p:nvPr/>
        </p:nvSpPr>
        <p:spPr>
          <a:xfrm>
            <a:off x="6162675" y="2631108"/>
            <a:ext cx="2540017" cy="2277418"/>
          </a:xfrm>
          <a:prstGeom prst="roundRect">
            <a:avLst>
              <a:gd name="adj" fmla="val 8783"/>
            </a:avLst>
          </a:prstGeom>
          <a:solidFill>
            <a:srgbClr val="0E1116">
              <a:alpha val="3000"/>
            </a:srgbClr>
          </a:solidFill>
          <a:ln w="6350">
            <a:solidFill>
              <a:srgbClr val="0E1116">
                <a:alpha val="6000"/>
              </a:srgbClr>
            </a:solidFill>
          </a:ln>
        </p:spPr>
        <p:txBody>
          <a:bodyPr lIns="45719" rIns="45719"/>
          <a:lstStyle/>
          <a:p>
            <a:pPr/>
          </a:p>
        </p:txBody>
      </p:sp>
      <p:sp>
        <p:nvSpPr>
          <p:cNvPr id="72" name="Shape 15"/>
          <p:cNvSpPr/>
          <p:nvPr/>
        </p:nvSpPr>
        <p:spPr>
          <a:xfrm>
            <a:off x="6215558" y="2683991"/>
            <a:ext cx="2434251" cy="2171651"/>
          </a:xfrm>
          <a:prstGeom prst="roundRect">
            <a:avLst>
              <a:gd name="adj" fmla="val 7018"/>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73" name="Image 2" descr="Image 2"/>
          <p:cNvPicPr>
            <a:picLocks noChangeAspect="1"/>
          </p:cNvPicPr>
          <p:nvPr/>
        </p:nvPicPr>
        <p:blipFill>
          <a:blip r:embed="rId5">
            <a:extLst/>
          </a:blip>
          <a:stretch>
            <a:fillRect/>
          </a:stretch>
        </p:blipFill>
        <p:spPr>
          <a:xfrm>
            <a:off x="6444134" y="2912566"/>
            <a:ext cx="279384" cy="279384"/>
          </a:xfrm>
          <a:prstGeom prst="rect">
            <a:avLst/>
          </a:prstGeom>
          <a:ln w="12700">
            <a:miter lim="400000"/>
          </a:ln>
        </p:spPr>
      </p:pic>
      <p:sp>
        <p:nvSpPr>
          <p:cNvPr id="74" name="Text 16"/>
          <p:cNvSpPr txBox="1"/>
          <p:nvPr/>
        </p:nvSpPr>
        <p:spPr>
          <a:xfrm>
            <a:off x="8238339" y="2945596"/>
            <a:ext cx="2336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03</a:t>
            </a:r>
          </a:p>
        </p:txBody>
      </p:sp>
      <p:sp>
        <p:nvSpPr>
          <p:cNvPr id="75" name="Text 17"/>
          <p:cNvSpPr txBox="1"/>
          <p:nvPr/>
        </p:nvSpPr>
        <p:spPr>
          <a:xfrm>
            <a:off x="6444134" y="3293524"/>
            <a:ext cx="203641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AI grades blind</a:t>
            </a:r>
          </a:p>
        </p:txBody>
      </p:sp>
      <p:sp>
        <p:nvSpPr>
          <p:cNvPr id="76" name="Text 18"/>
          <p:cNvSpPr txBox="1"/>
          <p:nvPr/>
        </p:nvSpPr>
        <p:spPr>
          <a:xfrm>
            <a:off x="6444134" y="3669439"/>
            <a:ext cx="2036413" cy="98302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On submit, the AI grades the same answers. It never sees the TA's points or the student.</a:t>
            </a:r>
          </a:p>
        </p:txBody>
      </p:sp>
      <p:sp>
        <p:nvSpPr>
          <p:cNvPr id="77" name="Shape 19"/>
          <p:cNvSpPr/>
          <p:nvPr/>
        </p:nvSpPr>
        <p:spPr>
          <a:xfrm>
            <a:off x="8836041" y="2631108"/>
            <a:ext cx="2540017" cy="2277418"/>
          </a:xfrm>
          <a:prstGeom prst="roundRect">
            <a:avLst>
              <a:gd name="adj" fmla="val 8783"/>
            </a:avLst>
          </a:prstGeom>
          <a:solidFill>
            <a:srgbClr val="0E1116">
              <a:alpha val="5000"/>
            </a:srgbClr>
          </a:solidFill>
          <a:ln w="6350">
            <a:solidFill>
              <a:srgbClr val="0E1116">
                <a:alpha val="8000"/>
              </a:srgbClr>
            </a:solidFill>
          </a:ln>
        </p:spPr>
        <p:txBody>
          <a:bodyPr lIns="45719" rIns="45719"/>
          <a:lstStyle/>
          <a:p>
            <a:pPr/>
          </a:p>
        </p:txBody>
      </p:sp>
      <p:sp>
        <p:nvSpPr>
          <p:cNvPr id="78" name="Shape 20"/>
          <p:cNvSpPr/>
          <p:nvPr/>
        </p:nvSpPr>
        <p:spPr>
          <a:xfrm>
            <a:off x="8888924" y="2683991"/>
            <a:ext cx="2434250" cy="2171651"/>
          </a:xfrm>
          <a:prstGeom prst="roundRect">
            <a:avLst>
              <a:gd name="adj" fmla="val 7018"/>
            </a:avLst>
          </a:prstGeom>
          <a:gradFill>
            <a:gsLst>
              <a:gs pos="0">
                <a:srgbClr val="262C3D"/>
              </a:gs>
              <a:gs pos="64999">
                <a:srgbClr val="0E1116"/>
              </a:gs>
            </a:gsLst>
            <a:path path="circle">
              <a:fillToRect l="119636" t="37721" r="-19636" b="62278"/>
            </a:path>
          </a:gradFill>
          <a:ln w="12700">
            <a:miter lim="400000"/>
          </a:ln>
          <a:effectLst>
            <a:outerShdw sx="100000" sy="100000" kx="0" ky="0" algn="b" rotWithShape="0" blurRad="127000" dist="152400" dir="5400000">
              <a:srgbClr val="0E1116">
                <a:alpha val="40000"/>
              </a:srgbClr>
            </a:outerShdw>
          </a:effectLst>
        </p:spPr>
        <p:txBody>
          <a:bodyPr lIns="45719" rIns="45719"/>
          <a:lstStyle/>
          <a:p>
            <a:pPr/>
          </a:p>
        </p:txBody>
      </p:sp>
      <p:pic>
        <p:nvPicPr>
          <p:cNvPr id="79" name="Image 3" descr="Image 3"/>
          <p:cNvPicPr>
            <a:picLocks noChangeAspect="1"/>
          </p:cNvPicPr>
          <p:nvPr/>
        </p:nvPicPr>
        <p:blipFill>
          <a:blip r:embed="rId6">
            <a:extLst/>
          </a:blip>
          <a:stretch>
            <a:fillRect/>
          </a:stretch>
        </p:blipFill>
        <p:spPr>
          <a:xfrm>
            <a:off x="9117500" y="2912566"/>
            <a:ext cx="279384" cy="279384"/>
          </a:xfrm>
          <a:prstGeom prst="rect">
            <a:avLst/>
          </a:prstGeom>
          <a:ln w="12700">
            <a:miter lim="400000"/>
          </a:ln>
        </p:spPr>
      </p:pic>
      <p:sp>
        <p:nvSpPr>
          <p:cNvPr id="80" name="Text 21"/>
          <p:cNvSpPr txBox="1"/>
          <p:nvPr/>
        </p:nvSpPr>
        <p:spPr>
          <a:xfrm>
            <a:off x="10911706" y="2945596"/>
            <a:ext cx="23369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E95A3"/>
                </a:solidFill>
                <a:latin typeface="Geist Mono"/>
                <a:ea typeface="Geist Mono"/>
                <a:cs typeface="Geist Mono"/>
                <a:sym typeface="Geist Mono"/>
              </a:defRPr>
            </a:lvl1pPr>
          </a:lstStyle>
          <a:p>
            <a:pPr/>
            <a:r>
              <a:t>04</a:t>
            </a:r>
          </a:p>
        </p:txBody>
      </p:sp>
      <p:sp>
        <p:nvSpPr>
          <p:cNvPr id="81" name="Text 22"/>
          <p:cNvSpPr txBox="1"/>
          <p:nvPr/>
        </p:nvSpPr>
        <p:spPr>
          <a:xfrm>
            <a:off x="9117500" y="3293524"/>
            <a:ext cx="203641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F2F4F7"/>
                </a:solidFill>
                <a:latin typeface="Geist"/>
                <a:ea typeface="Geist"/>
                <a:cs typeface="Geist"/>
                <a:sym typeface="Geist"/>
              </a:defRPr>
            </a:lvl1pPr>
          </a:lstStyle>
          <a:p>
            <a:pPr/>
            <a:r>
              <a:t>Compare</a:t>
            </a:r>
          </a:p>
        </p:txBody>
      </p:sp>
      <p:sp>
        <p:nvSpPr>
          <p:cNvPr id="82" name="Text 23"/>
          <p:cNvSpPr txBox="1"/>
          <p:nvPr/>
        </p:nvSpPr>
        <p:spPr>
          <a:xfrm>
            <a:off x="9117500" y="3669439"/>
            <a:ext cx="2036413" cy="98302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A6ACB8"/>
                </a:solidFill>
                <a:latin typeface="Geist"/>
                <a:ea typeface="Geist"/>
                <a:cs typeface="Geist"/>
                <a:sym typeface="Geist"/>
              </a:defRPr>
            </a:lvl1pPr>
          </a:lstStyle>
          <a:p>
            <a:pPr/>
            <a:r>
              <a:t>TA vs AI on every paper, per TA and per question. Consistent gaps get flagged.</a:t>
            </a:r>
          </a:p>
        </p:txBody>
      </p:sp>
      <p:sp>
        <p:nvSpPr>
          <p:cNvPr id="83" name="Text 24"/>
          <p:cNvSpPr txBox="1"/>
          <p:nvPr/>
        </p:nvSpPr>
        <p:spPr>
          <a:xfrm>
            <a:off x="812767" y="5769031"/>
            <a:ext cx="9156701"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nSpc>
                <a:spcPts val="2100"/>
              </a:lnSpc>
              <a:defRPr sz="1500">
                <a:solidFill>
                  <a:srgbClr val="5B606B"/>
                </a:solidFill>
                <a:latin typeface="Geist"/>
                <a:ea typeface="Geist"/>
                <a:cs typeface="Geist"/>
                <a:sym typeface="Geist"/>
              </a:defRPr>
            </a:pPr>
            <a:r>
              <a:t>The TA's grade is the one that counts. The AI's grade is the </a:t>
            </a:r>
            <a:r>
              <a:rPr b="1">
                <a:solidFill>
                  <a:srgbClr val="0E1116"/>
                </a:solidFill>
              </a:rPr>
              <a:t>yardstick</a:t>
            </a:r>
            <a:r>
              <a:t>, run before grades are published.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87"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88" name="Shape 1"/>
          <p:cNvSpPr/>
          <p:nvPr/>
        </p:nvSpPr>
        <p:spPr>
          <a:xfrm>
            <a:off x="815941" y="628748"/>
            <a:ext cx="2635640"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89" name="Text 2"/>
          <p:cNvSpPr txBox="1"/>
          <p:nvPr/>
        </p:nvSpPr>
        <p:spPr>
          <a:xfrm>
            <a:off x="1168127" y="656265"/>
            <a:ext cx="1931269"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Live demo · localhost:3000</a:t>
            </a:r>
          </a:p>
        </p:txBody>
      </p:sp>
      <p:sp>
        <p:nvSpPr>
          <p:cNvPr id="90" name="Text 3"/>
          <p:cNvSpPr txBox="1"/>
          <p:nvPr/>
        </p:nvSpPr>
        <p:spPr>
          <a:xfrm>
            <a:off x="812767" y="1103394"/>
            <a:ext cx="4970780" cy="103883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900"/>
              </a:lnSpc>
              <a:defRPr b="1" spc="-200" sz="3800">
                <a:solidFill>
                  <a:srgbClr val="0E1116"/>
                </a:solidFill>
                <a:latin typeface="Geist"/>
                <a:ea typeface="Geist"/>
                <a:cs typeface="Geist"/>
                <a:sym typeface="Geist"/>
              </a:defRPr>
            </a:lvl1pPr>
          </a:lstStyle>
          <a:p>
            <a:pPr/>
            <a:r>
              <a:t>One midterm, start to finish</a:t>
            </a:r>
          </a:p>
        </p:txBody>
      </p:sp>
      <p:sp>
        <p:nvSpPr>
          <p:cNvPr id="91" name="Text 4"/>
          <p:cNvSpPr txBox="1"/>
          <p:nvPr/>
        </p:nvSpPr>
        <p:spPr>
          <a:xfrm>
            <a:off x="812767" y="2294597"/>
            <a:ext cx="4970780" cy="52257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900"/>
              </a:lnSpc>
              <a:defRPr sz="1300">
                <a:solidFill>
                  <a:srgbClr val="5B606B"/>
                </a:solidFill>
                <a:latin typeface="Geist"/>
                <a:ea typeface="Geist"/>
                <a:cs typeface="Geist"/>
                <a:sym typeface="Geist"/>
              </a:defRPr>
            </a:lvl1pPr>
          </a:lstStyle>
          <a:p>
            <a:pPr/>
            <a:r>
              <a:t>HY335 Computer Networks. 5 TAs, 58 midterm papers, 3 questions out of 10.</a:t>
            </a:r>
          </a:p>
        </p:txBody>
      </p:sp>
      <p:sp>
        <p:nvSpPr>
          <p:cNvPr id="92" name="Text 5"/>
          <p:cNvSpPr txBox="1"/>
          <p:nvPr/>
        </p:nvSpPr>
        <p:spPr>
          <a:xfrm>
            <a:off x="812767" y="3177149"/>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01</a:t>
            </a:r>
          </a:p>
        </p:txBody>
      </p:sp>
      <p:sp>
        <p:nvSpPr>
          <p:cNvPr id="93" name="Shape 6"/>
          <p:cNvSpPr/>
          <p:nvPr/>
        </p:nvSpPr>
        <p:spPr>
          <a:xfrm>
            <a:off x="1219150" y="3139074"/>
            <a:ext cx="1066726" cy="271695"/>
          </a:xfrm>
          <a:prstGeom prst="roundRect">
            <a:avLst>
              <a:gd name="adj" fmla="val 50000"/>
            </a:avLst>
          </a:prstGeom>
          <a:solidFill>
            <a:srgbClr val="0E1116"/>
          </a:solidFill>
          <a:ln w="12700">
            <a:miter lim="400000"/>
          </a:ln>
        </p:spPr>
        <p:txBody>
          <a:bodyPr lIns="45719" rIns="45719"/>
          <a:lstStyle/>
          <a:p>
            <a:pPr/>
          </a:p>
        </p:txBody>
      </p:sp>
      <p:sp>
        <p:nvSpPr>
          <p:cNvPr id="94" name="Text 7"/>
          <p:cNvSpPr txBox="1"/>
          <p:nvPr/>
        </p:nvSpPr>
        <p:spPr>
          <a:xfrm>
            <a:off x="1333450" y="3177174"/>
            <a:ext cx="888926"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95" name="Text 8"/>
          <p:cNvSpPr txBox="1"/>
          <p:nvPr/>
        </p:nvSpPr>
        <p:spPr>
          <a:xfrm>
            <a:off x="2552650" y="3052050"/>
            <a:ext cx="3178700" cy="4711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Sets the questions, model answers and rubric</a:t>
            </a:r>
          </a:p>
        </p:txBody>
      </p:sp>
      <p:sp>
        <p:nvSpPr>
          <p:cNvPr id="96" name="Shape 9"/>
          <p:cNvSpPr/>
          <p:nvPr/>
        </p:nvSpPr>
        <p:spPr>
          <a:xfrm>
            <a:off x="812767" y="3583483"/>
            <a:ext cx="4826001" cy="1"/>
          </a:xfrm>
          <a:prstGeom prst="line">
            <a:avLst/>
          </a:prstGeom>
          <a:ln w="6350">
            <a:solidFill>
              <a:srgbClr val="0E1116">
                <a:alpha val="8000"/>
              </a:srgbClr>
            </a:solidFill>
          </a:ln>
        </p:spPr>
        <p:txBody>
          <a:bodyPr lIns="45719" rIns="45719"/>
          <a:lstStyle/>
          <a:p>
            <a:pPr/>
          </a:p>
        </p:txBody>
      </p:sp>
      <p:sp>
        <p:nvSpPr>
          <p:cNvPr id="97" name="Text 10"/>
          <p:cNvSpPr txBox="1"/>
          <p:nvPr/>
        </p:nvSpPr>
        <p:spPr>
          <a:xfrm>
            <a:off x="812767" y="3706191"/>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02</a:t>
            </a:r>
          </a:p>
        </p:txBody>
      </p:sp>
      <p:sp>
        <p:nvSpPr>
          <p:cNvPr id="98" name="Shape 11"/>
          <p:cNvSpPr/>
          <p:nvPr/>
        </p:nvSpPr>
        <p:spPr>
          <a:xfrm>
            <a:off x="1219150" y="3668117"/>
            <a:ext cx="396172" cy="271695"/>
          </a:xfrm>
          <a:prstGeom prst="roundRect">
            <a:avLst>
              <a:gd name="adj" fmla="val 50000"/>
            </a:avLst>
          </a:prstGeom>
          <a:solidFill>
            <a:srgbClr val="EDF1FD"/>
          </a:solidFill>
          <a:ln w="12700">
            <a:miter lim="400000"/>
          </a:ln>
        </p:spPr>
        <p:txBody>
          <a:bodyPr lIns="45719" rIns="45719"/>
          <a:lstStyle/>
          <a:p>
            <a:pPr/>
          </a:p>
        </p:txBody>
      </p:sp>
      <p:sp>
        <p:nvSpPr>
          <p:cNvPr id="99" name="Text 12"/>
          <p:cNvSpPr txBox="1"/>
          <p:nvPr/>
        </p:nvSpPr>
        <p:spPr>
          <a:xfrm>
            <a:off x="1333450" y="3706217"/>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2A47AE"/>
                </a:solidFill>
                <a:latin typeface="Geist Mono"/>
                <a:ea typeface="Geist Mono"/>
                <a:cs typeface="Geist Mono"/>
                <a:sym typeface="Geist Mono"/>
              </a:defRPr>
            </a:lvl1pPr>
          </a:lstStyle>
          <a:p>
            <a:pPr/>
            <a:r>
              <a:t>TA</a:t>
            </a:r>
          </a:p>
        </p:txBody>
      </p:sp>
      <p:sp>
        <p:nvSpPr>
          <p:cNvPr id="100" name="Text 13"/>
          <p:cNvSpPr txBox="1"/>
          <p:nvPr/>
        </p:nvSpPr>
        <p:spPr>
          <a:xfrm>
            <a:off x="2552650" y="3692507"/>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Grades a scanned paper</a:t>
            </a:r>
          </a:p>
        </p:txBody>
      </p:sp>
      <p:sp>
        <p:nvSpPr>
          <p:cNvPr id="101" name="Shape 14"/>
          <p:cNvSpPr/>
          <p:nvPr/>
        </p:nvSpPr>
        <p:spPr>
          <a:xfrm>
            <a:off x="812767" y="4025503"/>
            <a:ext cx="4826001" cy="1"/>
          </a:xfrm>
          <a:prstGeom prst="line">
            <a:avLst/>
          </a:prstGeom>
          <a:ln w="6350">
            <a:solidFill>
              <a:srgbClr val="0E1116">
                <a:alpha val="8000"/>
              </a:srgbClr>
            </a:solidFill>
          </a:ln>
        </p:spPr>
        <p:txBody>
          <a:bodyPr lIns="45719" rIns="45719"/>
          <a:lstStyle/>
          <a:p>
            <a:pPr/>
          </a:p>
        </p:txBody>
      </p:sp>
      <p:sp>
        <p:nvSpPr>
          <p:cNvPr id="102" name="Text 15"/>
          <p:cNvSpPr txBox="1"/>
          <p:nvPr/>
        </p:nvSpPr>
        <p:spPr>
          <a:xfrm>
            <a:off x="812767" y="4148211"/>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03</a:t>
            </a:r>
          </a:p>
        </p:txBody>
      </p:sp>
      <p:sp>
        <p:nvSpPr>
          <p:cNvPr id="103" name="Shape 16"/>
          <p:cNvSpPr/>
          <p:nvPr/>
        </p:nvSpPr>
        <p:spPr>
          <a:xfrm>
            <a:off x="1219150" y="4110137"/>
            <a:ext cx="396172" cy="271695"/>
          </a:xfrm>
          <a:prstGeom prst="roundRect">
            <a:avLst>
              <a:gd name="adj" fmla="val 50000"/>
            </a:avLst>
          </a:prstGeom>
          <a:solidFill>
            <a:srgbClr val="FFF4DE"/>
          </a:solidFill>
          <a:ln w="12700">
            <a:miter lim="400000"/>
          </a:ln>
        </p:spPr>
        <p:txBody>
          <a:bodyPr lIns="45719" rIns="45719"/>
          <a:lstStyle/>
          <a:p>
            <a:pPr/>
          </a:p>
        </p:txBody>
      </p:sp>
      <p:sp>
        <p:nvSpPr>
          <p:cNvPr id="104" name="Text 17"/>
          <p:cNvSpPr txBox="1"/>
          <p:nvPr/>
        </p:nvSpPr>
        <p:spPr>
          <a:xfrm>
            <a:off x="1333450" y="4148237"/>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5A12"/>
                </a:solidFill>
                <a:latin typeface="Geist Mono"/>
                <a:ea typeface="Geist Mono"/>
                <a:cs typeface="Geist Mono"/>
                <a:sym typeface="Geist Mono"/>
              </a:defRPr>
            </a:lvl1pPr>
          </a:lstStyle>
          <a:p>
            <a:pPr/>
            <a:r>
              <a:t>AI</a:t>
            </a:r>
          </a:p>
        </p:txBody>
      </p:sp>
      <p:sp>
        <p:nvSpPr>
          <p:cNvPr id="105" name="Text 18"/>
          <p:cNvSpPr txBox="1"/>
          <p:nvPr/>
        </p:nvSpPr>
        <p:spPr>
          <a:xfrm>
            <a:off x="2552650" y="4134527"/>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Grades the same answers, blind</a:t>
            </a:r>
          </a:p>
        </p:txBody>
      </p:sp>
      <p:sp>
        <p:nvSpPr>
          <p:cNvPr id="106" name="Shape 19"/>
          <p:cNvSpPr/>
          <p:nvPr/>
        </p:nvSpPr>
        <p:spPr>
          <a:xfrm>
            <a:off x="812767" y="4467523"/>
            <a:ext cx="4826001" cy="1"/>
          </a:xfrm>
          <a:prstGeom prst="line">
            <a:avLst/>
          </a:prstGeom>
          <a:ln w="6350">
            <a:solidFill>
              <a:srgbClr val="0E1116">
                <a:alpha val="8000"/>
              </a:srgbClr>
            </a:solidFill>
          </a:ln>
        </p:spPr>
        <p:txBody>
          <a:bodyPr lIns="45719" rIns="45719"/>
          <a:lstStyle/>
          <a:p>
            <a:pPr/>
          </a:p>
        </p:txBody>
      </p:sp>
      <p:sp>
        <p:nvSpPr>
          <p:cNvPr id="107" name="Text 20"/>
          <p:cNvSpPr txBox="1"/>
          <p:nvPr/>
        </p:nvSpPr>
        <p:spPr>
          <a:xfrm>
            <a:off x="812767" y="4590231"/>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04</a:t>
            </a:r>
          </a:p>
        </p:txBody>
      </p:sp>
      <p:sp>
        <p:nvSpPr>
          <p:cNvPr id="108" name="Shape 21"/>
          <p:cNvSpPr/>
          <p:nvPr/>
        </p:nvSpPr>
        <p:spPr>
          <a:xfrm>
            <a:off x="1219150" y="4552155"/>
            <a:ext cx="1066726" cy="271695"/>
          </a:xfrm>
          <a:prstGeom prst="roundRect">
            <a:avLst>
              <a:gd name="adj" fmla="val 50000"/>
            </a:avLst>
          </a:prstGeom>
          <a:solidFill>
            <a:srgbClr val="0E1116"/>
          </a:solidFill>
          <a:ln w="12700">
            <a:miter lim="400000"/>
          </a:ln>
        </p:spPr>
        <p:txBody>
          <a:bodyPr lIns="45719" rIns="45719"/>
          <a:lstStyle/>
          <a:p>
            <a:pPr/>
          </a:p>
        </p:txBody>
      </p:sp>
      <p:sp>
        <p:nvSpPr>
          <p:cNvPr id="109" name="Text 22"/>
          <p:cNvSpPr txBox="1"/>
          <p:nvPr/>
        </p:nvSpPr>
        <p:spPr>
          <a:xfrm>
            <a:off x="1333450" y="4590255"/>
            <a:ext cx="888926"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110" name="Text 23"/>
          <p:cNvSpPr txBox="1"/>
          <p:nvPr/>
        </p:nvSpPr>
        <p:spPr>
          <a:xfrm>
            <a:off x="2552650" y="4576547"/>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Report flags a pattern on one question</a:t>
            </a:r>
          </a:p>
        </p:txBody>
      </p:sp>
      <p:sp>
        <p:nvSpPr>
          <p:cNvPr id="111" name="Shape 24"/>
          <p:cNvSpPr/>
          <p:nvPr/>
        </p:nvSpPr>
        <p:spPr>
          <a:xfrm>
            <a:off x="812767" y="4909542"/>
            <a:ext cx="4826001" cy="1"/>
          </a:xfrm>
          <a:prstGeom prst="line">
            <a:avLst/>
          </a:prstGeom>
          <a:ln w="6350">
            <a:solidFill>
              <a:srgbClr val="0E1116">
                <a:alpha val="8000"/>
              </a:srgbClr>
            </a:solidFill>
          </a:ln>
        </p:spPr>
        <p:txBody>
          <a:bodyPr lIns="45719" rIns="45719"/>
          <a:lstStyle/>
          <a:p>
            <a:pPr/>
          </a:p>
        </p:txBody>
      </p:sp>
      <p:sp>
        <p:nvSpPr>
          <p:cNvPr id="112" name="Text 25"/>
          <p:cNvSpPr txBox="1"/>
          <p:nvPr/>
        </p:nvSpPr>
        <p:spPr>
          <a:xfrm>
            <a:off x="812767" y="5032250"/>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05</a:t>
            </a:r>
          </a:p>
        </p:txBody>
      </p:sp>
      <p:sp>
        <p:nvSpPr>
          <p:cNvPr id="113" name="Shape 26"/>
          <p:cNvSpPr/>
          <p:nvPr/>
        </p:nvSpPr>
        <p:spPr>
          <a:xfrm>
            <a:off x="1219150" y="4994176"/>
            <a:ext cx="1066726" cy="271695"/>
          </a:xfrm>
          <a:prstGeom prst="roundRect">
            <a:avLst>
              <a:gd name="adj" fmla="val 50000"/>
            </a:avLst>
          </a:prstGeom>
          <a:solidFill>
            <a:srgbClr val="0E1116"/>
          </a:solidFill>
          <a:ln w="12700">
            <a:miter lim="400000"/>
          </a:ln>
        </p:spPr>
        <p:txBody>
          <a:bodyPr lIns="45719" rIns="45719"/>
          <a:lstStyle/>
          <a:p>
            <a:pPr/>
          </a:p>
        </p:txBody>
      </p:sp>
      <p:sp>
        <p:nvSpPr>
          <p:cNvPr id="114" name="Text 27"/>
          <p:cNvSpPr txBox="1"/>
          <p:nvPr/>
        </p:nvSpPr>
        <p:spPr>
          <a:xfrm>
            <a:off x="1333450" y="5032276"/>
            <a:ext cx="888926"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115" name="Text 28"/>
          <p:cNvSpPr txBox="1"/>
          <p:nvPr/>
        </p:nvSpPr>
        <p:spPr>
          <a:xfrm>
            <a:off x="2552650" y="5018566"/>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Opens the evidence</a:t>
            </a:r>
          </a:p>
        </p:txBody>
      </p:sp>
      <p:sp>
        <p:nvSpPr>
          <p:cNvPr id="116" name="Shape 29"/>
          <p:cNvSpPr/>
          <p:nvPr/>
        </p:nvSpPr>
        <p:spPr>
          <a:xfrm>
            <a:off x="812767" y="5351562"/>
            <a:ext cx="4826001" cy="1"/>
          </a:xfrm>
          <a:prstGeom prst="line">
            <a:avLst/>
          </a:prstGeom>
          <a:ln w="6350">
            <a:solidFill>
              <a:srgbClr val="0E1116">
                <a:alpha val="8000"/>
              </a:srgbClr>
            </a:solidFill>
          </a:ln>
        </p:spPr>
        <p:txBody>
          <a:bodyPr lIns="45719" rIns="45719"/>
          <a:lstStyle/>
          <a:p>
            <a:pPr/>
          </a:p>
        </p:txBody>
      </p:sp>
      <p:sp>
        <p:nvSpPr>
          <p:cNvPr id="117" name="Text 30"/>
          <p:cNvSpPr txBox="1"/>
          <p:nvPr/>
        </p:nvSpPr>
        <p:spPr>
          <a:xfrm>
            <a:off x="812767" y="5474270"/>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06</a:t>
            </a:r>
          </a:p>
        </p:txBody>
      </p:sp>
      <p:sp>
        <p:nvSpPr>
          <p:cNvPr id="118" name="Shape 31"/>
          <p:cNvSpPr/>
          <p:nvPr/>
        </p:nvSpPr>
        <p:spPr>
          <a:xfrm>
            <a:off x="1219150" y="5436194"/>
            <a:ext cx="1066726" cy="271695"/>
          </a:xfrm>
          <a:prstGeom prst="roundRect">
            <a:avLst>
              <a:gd name="adj" fmla="val 50000"/>
            </a:avLst>
          </a:prstGeom>
          <a:solidFill>
            <a:srgbClr val="0E1116"/>
          </a:solidFill>
          <a:ln w="12700">
            <a:miter lim="400000"/>
          </a:ln>
        </p:spPr>
        <p:txBody>
          <a:bodyPr lIns="45719" rIns="45719"/>
          <a:lstStyle/>
          <a:p>
            <a:pPr/>
          </a:p>
        </p:txBody>
      </p:sp>
      <p:sp>
        <p:nvSpPr>
          <p:cNvPr id="119" name="Text 32"/>
          <p:cNvSpPr txBox="1"/>
          <p:nvPr/>
        </p:nvSpPr>
        <p:spPr>
          <a:xfrm>
            <a:off x="1333450" y="5474294"/>
            <a:ext cx="888926"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120" name="Text 33"/>
          <p:cNvSpPr txBox="1"/>
          <p:nvPr/>
        </p:nvSpPr>
        <p:spPr>
          <a:xfrm>
            <a:off x="2552650" y="5460584"/>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Course stats and TA leaderboard</a:t>
            </a:r>
          </a:p>
        </p:txBody>
      </p:sp>
      <p:sp>
        <p:nvSpPr>
          <p:cNvPr id="121" name="Shape 34"/>
          <p:cNvSpPr/>
          <p:nvPr/>
        </p:nvSpPr>
        <p:spPr>
          <a:xfrm>
            <a:off x="812767" y="5793580"/>
            <a:ext cx="4826001" cy="1"/>
          </a:xfrm>
          <a:prstGeom prst="line">
            <a:avLst/>
          </a:prstGeom>
          <a:ln w="6350">
            <a:solidFill>
              <a:srgbClr val="0E1116">
                <a:alpha val="8000"/>
              </a:srgbClr>
            </a:solidFill>
          </a:ln>
        </p:spPr>
        <p:txBody>
          <a:bodyPr lIns="45719" rIns="45719"/>
          <a:lstStyle/>
          <a:p>
            <a:pPr/>
          </a:p>
        </p:txBody>
      </p:sp>
      <p:sp>
        <p:nvSpPr>
          <p:cNvPr id="122" name="Text 35"/>
          <p:cNvSpPr txBox="1"/>
          <p:nvPr/>
        </p:nvSpPr>
        <p:spPr>
          <a:xfrm>
            <a:off x="812767" y="5916290"/>
            <a:ext cx="330184"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07</a:t>
            </a:r>
          </a:p>
        </p:txBody>
      </p:sp>
      <p:sp>
        <p:nvSpPr>
          <p:cNvPr id="123" name="Shape 36"/>
          <p:cNvSpPr/>
          <p:nvPr/>
        </p:nvSpPr>
        <p:spPr>
          <a:xfrm>
            <a:off x="1219150" y="5878214"/>
            <a:ext cx="396172" cy="271695"/>
          </a:xfrm>
          <a:prstGeom prst="roundRect">
            <a:avLst>
              <a:gd name="adj" fmla="val 50000"/>
            </a:avLst>
          </a:prstGeom>
          <a:solidFill>
            <a:srgbClr val="EDF1FD"/>
          </a:solidFill>
          <a:ln w="12700">
            <a:miter lim="400000"/>
          </a:ln>
        </p:spPr>
        <p:txBody>
          <a:bodyPr lIns="45719" rIns="45719"/>
          <a:lstStyle/>
          <a:p>
            <a:pPr/>
          </a:p>
        </p:txBody>
      </p:sp>
      <p:sp>
        <p:nvSpPr>
          <p:cNvPr id="124" name="Text 37"/>
          <p:cNvSpPr txBox="1"/>
          <p:nvPr/>
        </p:nvSpPr>
        <p:spPr>
          <a:xfrm>
            <a:off x="1333450" y="5916314"/>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2A47AE"/>
                </a:solidFill>
                <a:latin typeface="Geist Mono"/>
                <a:ea typeface="Geist Mono"/>
                <a:cs typeface="Geist Mono"/>
                <a:sym typeface="Geist Mono"/>
              </a:defRPr>
            </a:lvl1pPr>
          </a:lstStyle>
          <a:p>
            <a:pPr/>
            <a:r>
              <a:t>TA</a:t>
            </a:r>
          </a:p>
        </p:txBody>
      </p:sp>
      <p:sp>
        <p:nvSpPr>
          <p:cNvPr id="125" name="Text 38"/>
          <p:cNvSpPr txBox="1"/>
          <p:nvPr/>
        </p:nvSpPr>
        <p:spPr>
          <a:xfrm>
            <a:off x="2552650" y="5902604"/>
            <a:ext cx="3178700" cy="24827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Checks their own stats</a:t>
            </a:r>
          </a:p>
        </p:txBody>
      </p:sp>
      <p:pic>
        <p:nvPicPr>
          <p:cNvPr id="126" name="Image 0" descr="Image 0"/>
          <p:cNvPicPr>
            <a:picLocks noChangeAspect="1"/>
          </p:cNvPicPr>
          <p:nvPr/>
        </p:nvPicPr>
        <p:blipFill>
          <a:blip r:embed="rId3">
            <a:extLst/>
          </a:blip>
          <a:stretch>
            <a:fillRect/>
          </a:stretch>
        </p:blipFill>
        <p:spPr>
          <a:xfrm>
            <a:off x="6426525" y="3841708"/>
            <a:ext cx="4698250" cy="209518"/>
          </a:xfrm>
          <a:prstGeom prst="rect">
            <a:avLst/>
          </a:prstGeom>
          <a:ln w="12700">
            <a:miter lim="400000"/>
          </a:ln>
        </p:spPr>
      </p:pic>
      <p:pic>
        <p:nvPicPr>
          <p:cNvPr id="127" name="Image 1" descr="Image 1"/>
          <p:cNvPicPr>
            <a:picLocks noChangeAspect="1"/>
          </p:cNvPicPr>
          <p:nvPr/>
        </p:nvPicPr>
        <p:blipFill>
          <a:blip r:embed="rId4">
            <a:extLst/>
          </a:blip>
          <a:stretch>
            <a:fillRect/>
          </a:stretch>
        </p:blipFill>
        <p:spPr>
          <a:xfrm>
            <a:off x="6047059" y="812765"/>
            <a:ext cx="5457182" cy="3162269"/>
          </a:xfrm>
          <a:prstGeom prst="rect">
            <a:avLst/>
          </a:prstGeom>
          <a:ln w="12700">
            <a:miter lim="400000"/>
          </a:ln>
        </p:spPr>
      </p:pic>
      <p:pic>
        <p:nvPicPr>
          <p:cNvPr id="128" name="Image 2" descr="Image 2"/>
          <p:cNvPicPr>
            <a:picLocks noChangeAspect="1"/>
          </p:cNvPicPr>
          <p:nvPr/>
        </p:nvPicPr>
        <p:blipFill>
          <a:blip r:embed="rId5">
            <a:extLst/>
          </a:blip>
          <a:srcRect l="45" t="0" r="45" b="0"/>
          <a:stretch>
            <a:fillRect/>
          </a:stretch>
        </p:blipFill>
        <p:spPr>
          <a:xfrm>
            <a:off x="6692841" y="1028650"/>
            <a:ext cx="4171942" cy="2609826"/>
          </a:xfrm>
          <a:prstGeom prst="rect">
            <a:avLst/>
          </a:prstGeom>
          <a:ln w="12700">
            <a:miter lim="400000"/>
          </a:ln>
        </p:spPr>
      </p:pic>
      <p:sp>
        <p:nvSpPr>
          <p:cNvPr id="129" name="Shape 39"/>
          <p:cNvSpPr/>
          <p:nvPr/>
        </p:nvSpPr>
        <p:spPr>
          <a:xfrm>
            <a:off x="6692841" y="1028650"/>
            <a:ext cx="4171942" cy="2609826"/>
          </a:xfrm>
          <a:prstGeom prst="rect">
            <a:avLst/>
          </a:prstGeom>
          <a:gradFill>
            <a:gsLst>
              <a:gs pos="0">
                <a:srgbClr val="FFFFFF">
                  <a:alpha val="10000"/>
                </a:srgbClr>
              </a:gs>
              <a:gs pos="30000">
                <a:srgbClr val="FFFFFF">
                  <a:alpha val="3000"/>
                </a:srgbClr>
              </a:gs>
              <a:gs pos="45000">
                <a:srgbClr val="FFFFFF">
                  <a:alpha val="0"/>
                </a:srgbClr>
              </a:gs>
            </a:gsLst>
            <a:lin ang="1679999"/>
          </a:gra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33"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134" name="Shape 1"/>
          <p:cNvSpPr/>
          <p:nvPr/>
        </p:nvSpPr>
        <p:spPr>
          <a:xfrm>
            <a:off x="711192" y="1368019"/>
            <a:ext cx="355576" cy="38076"/>
          </a:xfrm>
          <a:prstGeom prst="roundRect">
            <a:avLst>
              <a:gd name="adj" fmla="val 50000"/>
            </a:avLst>
          </a:prstGeom>
          <a:solidFill>
            <a:srgbClr val="3358D4"/>
          </a:solidFill>
          <a:ln w="12700">
            <a:miter lim="400000"/>
          </a:ln>
        </p:spPr>
        <p:txBody>
          <a:bodyPr lIns="45719" rIns="45719"/>
          <a:lstStyle/>
          <a:p>
            <a:pPr/>
          </a:p>
        </p:txBody>
      </p:sp>
      <p:sp>
        <p:nvSpPr>
          <p:cNvPr id="135" name="Shape 2"/>
          <p:cNvSpPr/>
          <p:nvPr/>
        </p:nvSpPr>
        <p:spPr>
          <a:xfrm>
            <a:off x="1117534"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36" name="Shape 3"/>
          <p:cNvSpPr/>
          <p:nvPr/>
        </p:nvSpPr>
        <p:spPr>
          <a:xfrm>
            <a:off x="1523875"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37" name="Shape 4"/>
          <p:cNvSpPr/>
          <p:nvPr/>
        </p:nvSpPr>
        <p:spPr>
          <a:xfrm>
            <a:off x="1930218"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38" name="Shape 5"/>
          <p:cNvSpPr/>
          <p:nvPr/>
        </p:nvSpPr>
        <p:spPr>
          <a:xfrm>
            <a:off x="2336560"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39" name="Shape 6"/>
          <p:cNvSpPr/>
          <p:nvPr/>
        </p:nvSpPr>
        <p:spPr>
          <a:xfrm>
            <a:off x="2742901"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40" name="Shape 7"/>
          <p:cNvSpPr/>
          <p:nvPr/>
        </p:nvSpPr>
        <p:spPr>
          <a:xfrm>
            <a:off x="3149244" y="1368019"/>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41" name="Text 8"/>
          <p:cNvSpPr txBox="1"/>
          <p:nvPr/>
        </p:nvSpPr>
        <p:spPr>
          <a:xfrm>
            <a:off x="3631786" y="1289303"/>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1 / 7</a:t>
            </a:r>
          </a:p>
        </p:txBody>
      </p:sp>
      <p:sp>
        <p:nvSpPr>
          <p:cNvPr id="142" name="Text 9"/>
          <p:cNvSpPr txBox="1"/>
          <p:nvPr/>
        </p:nvSpPr>
        <p:spPr>
          <a:xfrm>
            <a:off x="711192" y="1700689"/>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1</a:t>
            </a:r>
          </a:p>
        </p:txBody>
      </p:sp>
      <p:sp>
        <p:nvSpPr>
          <p:cNvPr id="143" name="Shape 10"/>
          <p:cNvSpPr/>
          <p:nvPr/>
        </p:nvSpPr>
        <p:spPr>
          <a:xfrm>
            <a:off x="1709415" y="1662614"/>
            <a:ext cx="1066727" cy="271695"/>
          </a:xfrm>
          <a:prstGeom prst="roundRect">
            <a:avLst>
              <a:gd name="adj" fmla="val 50000"/>
            </a:avLst>
          </a:prstGeom>
          <a:solidFill>
            <a:srgbClr val="0E1116"/>
          </a:solidFill>
          <a:ln w="12700">
            <a:miter lim="400000"/>
          </a:ln>
        </p:spPr>
        <p:txBody>
          <a:bodyPr lIns="45719" rIns="45719"/>
          <a:lstStyle/>
          <a:p>
            <a:pPr/>
          </a:p>
        </p:txBody>
      </p:sp>
      <p:sp>
        <p:nvSpPr>
          <p:cNvPr id="144" name="Text 11"/>
          <p:cNvSpPr txBox="1"/>
          <p:nvPr/>
        </p:nvSpPr>
        <p:spPr>
          <a:xfrm>
            <a:off x="1823715" y="1700714"/>
            <a:ext cx="888927"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145" name="Text 12"/>
          <p:cNvSpPr txBox="1"/>
          <p:nvPr/>
        </p:nvSpPr>
        <p:spPr>
          <a:xfrm>
            <a:off x="711191" y="2112075"/>
            <a:ext cx="3531872"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Set the standard once</a:t>
            </a:r>
          </a:p>
        </p:txBody>
      </p:sp>
      <p:sp>
        <p:nvSpPr>
          <p:cNvPr id="146" name="Text 13"/>
          <p:cNvSpPr txBox="1"/>
          <p:nvPr/>
        </p:nvSpPr>
        <p:spPr>
          <a:xfrm>
            <a:off x="711191" y="3063255"/>
            <a:ext cx="3531872" cy="50421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instructor adds each midterm question with a model answer and a rubric.</a:t>
            </a:r>
          </a:p>
        </p:txBody>
      </p:sp>
      <p:sp>
        <p:nvSpPr>
          <p:cNvPr id="147" name="Shape 14"/>
          <p:cNvSpPr/>
          <p:nvPr/>
        </p:nvSpPr>
        <p:spPr>
          <a:xfrm>
            <a:off x="711192" y="3719834"/>
            <a:ext cx="254001" cy="254001"/>
          </a:xfrm>
          <a:prstGeom prst="roundRect">
            <a:avLst>
              <a:gd name="adj" fmla="val 50000"/>
            </a:avLst>
          </a:prstGeom>
          <a:solidFill>
            <a:srgbClr val="0E1116"/>
          </a:solidFill>
          <a:ln w="12700">
            <a:miter lim="400000"/>
          </a:ln>
        </p:spPr>
        <p:txBody>
          <a:bodyPr lIns="45719" rIns="45719"/>
          <a:lstStyle/>
          <a:p>
            <a:pPr/>
          </a:p>
        </p:txBody>
      </p:sp>
      <p:sp>
        <p:nvSpPr>
          <p:cNvPr id="148" name="Text 15"/>
          <p:cNvSpPr txBox="1"/>
          <p:nvPr/>
        </p:nvSpPr>
        <p:spPr>
          <a:xfrm>
            <a:off x="800075" y="3757950"/>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149" name="Text 16"/>
          <p:cNvSpPr txBox="1"/>
          <p:nvPr/>
        </p:nvSpPr>
        <p:spPr>
          <a:xfrm>
            <a:off x="1079459" y="3719834"/>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model answer: what a full-marks answer says.</a:t>
            </a:r>
          </a:p>
        </p:txBody>
      </p:sp>
      <p:sp>
        <p:nvSpPr>
          <p:cNvPr id="150" name="Shape 17"/>
          <p:cNvSpPr/>
          <p:nvPr/>
        </p:nvSpPr>
        <p:spPr>
          <a:xfrm>
            <a:off x="711192" y="4302497"/>
            <a:ext cx="254001" cy="254001"/>
          </a:xfrm>
          <a:prstGeom prst="roundRect">
            <a:avLst>
              <a:gd name="adj" fmla="val 50000"/>
            </a:avLst>
          </a:prstGeom>
          <a:solidFill>
            <a:srgbClr val="0E1116"/>
          </a:solidFill>
          <a:ln w="12700">
            <a:miter lim="400000"/>
          </a:ln>
        </p:spPr>
        <p:txBody>
          <a:bodyPr lIns="45719" rIns="45719"/>
          <a:lstStyle/>
          <a:p>
            <a:pPr/>
          </a:p>
        </p:txBody>
      </p:sp>
      <p:sp>
        <p:nvSpPr>
          <p:cNvPr id="151" name="Text 18"/>
          <p:cNvSpPr txBox="1"/>
          <p:nvPr/>
        </p:nvSpPr>
        <p:spPr>
          <a:xfrm>
            <a:off x="800075" y="4340612"/>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152" name="Text 19"/>
          <p:cNvSpPr txBox="1"/>
          <p:nvPr/>
        </p:nvSpPr>
        <p:spPr>
          <a:xfrm>
            <a:off x="1079459" y="4302497"/>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rubric: points for each key idea. Every TA and the AI grade against it.</a:t>
            </a:r>
          </a:p>
        </p:txBody>
      </p:sp>
      <p:sp>
        <p:nvSpPr>
          <p:cNvPr id="153" name="Shape 20"/>
          <p:cNvSpPr/>
          <p:nvPr/>
        </p:nvSpPr>
        <p:spPr>
          <a:xfrm>
            <a:off x="711192" y="4885159"/>
            <a:ext cx="254001" cy="254001"/>
          </a:xfrm>
          <a:prstGeom prst="roundRect">
            <a:avLst>
              <a:gd name="adj" fmla="val 50000"/>
            </a:avLst>
          </a:prstGeom>
          <a:solidFill>
            <a:srgbClr val="0E1116"/>
          </a:solidFill>
          <a:ln w="12700">
            <a:miter lim="400000"/>
          </a:ln>
        </p:spPr>
        <p:txBody>
          <a:bodyPr lIns="45719" rIns="45719"/>
          <a:lstStyle/>
          <a:p>
            <a:pPr/>
          </a:p>
        </p:txBody>
      </p:sp>
      <p:sp>
        <p:nvSpPr>
          <p:cNvPr id="154" name="Text 21"/>
          <p:cNvSpPr txBox="1"/>
          <p:nvPr/>
        </p:nvSpPr>
        <p:spPr>
          <a:xfrm>
            <a:off x="800075" y="4923275"/>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3</a:t>
            </a:r>
          </a:p>
        </p:txBody>
      </p:sp>
      <p:sp>
        <p:nvSpPr>
          <p:cNvPr id="155" name="Text 22"/>
          <p:cNvSpPr txBox="1"/>
          <p:nvPr/>
        </p:nvSpPr>
        <p:spPr>
          <a:xfrm>
            <a:off x="1079459" y="4885159"/>
            <a:ext cx="3152556" cy="70889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Sent to the AI: question, model answer, rubric, transcribed text. Never names, IDs or TA grades.</a:t>
            </a:r>
          </a:p>
        </p:txBody>
      </p:sp>
      <p:sp>
        <p:nvSpPr>
          <p:cNvPr id="156" name="Shape 23"/>
          <p:cNvSpPr/>
          <p:nvPr/>
        </p:nvSpPr>
        <p:spPr>
          <a:xfrm>
            <a:off x="4498942" y="842482"/>
            <a:ext cx="6978651" cy="5173034"/>
          </a:xfrm>
          <a:prstGeom prst="roundRect">
            <a:avLst>
              <a:gd name="adj" fmla="val 3130"/>
            </a:avLst>
          </a:prstGeom>
          <a:solidFill>
            <a:srgbClr val="0E1116">
              <a:alpha val="4000"/>
            </a:srgbClr>
          </a:solidFill>
          <a:ln w="6350">
            <a:solidFill>
              <a:srgbClr val="0E1116">
                <a:alpha val="8000"/>
              </a:srgbClr>
            </a:solidFill>
          </a:ln>
        </p:spPr>
        <p:txBody>
          <a:bodyPr lIns="45719" rIns="45719"/>
          <a:lstStyle/>
          <a:p>
            <a:pPr/>
          </a:p>
        </p:txBody>
      </p:sp>
      <p:pic>
        <p:nvPicPr>
          <p:cNvPr id="157" name="Image 0" descr="Image 0"/>
          <p:cNvPicPr>
            <a:picLocks noChangeAspect="1"/>
          </p:cNvPicPr>
          <p:nvPr/>
        </p:nvPicPr>
        <p:blipFill>
          <a:blip r:embed="rId3">
            <a:extLst/>
          </a:blip>
          <a:srcRect l="0" t="2" r="0" b="2"/>
          <a:stretch>
            <a:fillRect/>
          </a:stretch>
        </p:blipFill>
        <p:spPr>
          <a:xfrm>
            <a:off x="4551824" y="895365"/>
            <a:ext cx="6870691" cy="5067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18"/>
                  <a:pt x="0" y="487"/>
                </a:cubicBezTo>
                <a:lnTo>
                  <a:pt x="0" y="21113"/>
                </a:lnTo>
                <a:cubicBezTo>
                  <a:pt x="0" y="21382"/>
                  <a:pt x="161" y="21600"/>
                  <a:pt x="359" y="21600"/>
                </a:cubicBezTo>
                <a:lnTo>
                  <a:pt x="21241" y="21600"/>
                </a:lnTo>
                <a:cubicBezTo>
                  <a:pt x="21439" y="21600"/>
                  <a:pt x="21600" y="21382"/>
                  <a:pt x="21600" y="21113"/>
                </a:cubicBezTo>
                <a:lnTo>
                  <a:pt x="21600" y="487"/>
                </a:lnTo>
                <a:cubicBezTo>
                  <a:pt x="21600" y="218"/>
                  <a:pt x="21439" y="0"/>
                  <a:pt x="21241" y="0"/>
                </a:cubicBezTo>
                <a:lnTo>
                  <a:pt x="359" y="0"/>
                </a:lnTo>
                <a:close/>
              </a:path>
            </a:pathLst>
          </a:custGeom>
          <a:ln w="12700">
            <a:miter lim="400000"/>
          </a:ln>
        </p:spPr>
      </p:pic>
      <p:sp>
        <p:nvSpPr>
          <p:cNvPr id="158" name="Shape 24"/>
          <p:cNvSpPr/>
          <p:nvPr/>
        </p:nvSpPr>
        <p:spPr>
          <a:xfrm>
            <a:off x="4818524" y="3822700"/>
            <a:ext cx="3657601" cy="1403350"/>
          </a:xfrm>
          <a:prstGeom prst="roundRect">
            <a:avLst>
              <a:gd name="adj" fmla="val 5430"/>
            </a:avLst>
          </a:prstGeom>
          <a:ln w="25400">
            <a:solidFill>
              <a:srgbClr val="3358D4"/>
            </a:solidFill>
          </a:ln>
          <a:effectLst>
            <a:outerShdw sx="100000" sy="100000" kx="0" ky="0" algn="b" rotWithShape="0" blurRad="38100" dist="0" dir="60000">
              <a:srgbClr val="3358D4">
                <a:alpha val="20000"/>
              </a:srgbClr>
            </a:outerShdw>
          </a:effectLst>
        </p:spPr>
        <p:txBody>
          <a:bodyPr lIns="45719" rIns="45719"/>
          <a:lstStyle/>
          <a:p>
            <a:pPr/>
          </a:p>
        </p:txBody>
      </p:sp>
      <p:sp>
        <p:nvSpPr>
          <p:cNvPr id="159" name="Shape 25"/>
          <p:cNvSpPr/>
          <p:nvPr/>
        </p:nvSpPr>
        <p:spPr>
          <a:xfrm>
            <a:off x="4593099" y="3013081"/>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60" name="Text 26"/>
          <p:cNvSpPr txBox="1"/>
          <p:nvPr/>
        </p:nvSpPr>
        <p:spPr>
          <a:xfrm>
            <a:off x="4687672" y="3051800"/>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161" name="Shape 27"/>
          <p:cNvSpPr/>
          <p:nvPr/>
        </p:nvSpPr>
        <p:spPr>
          <a:xfrm>
            <a:off x="4593099" y="3819525"/>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62" name="Text 28"/>
          <p:cNvSpPr txBox="1"/>
          <p:nvPr/>
        </p:nvSpPr>
        <p:spPr>
          <a:xfrm>
            <a:off x="4687672" y="3858245"/>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
        <p:nvSpPr>
          <p:cNvPr id="163" name="Shape 29"/>
          <p:cNvSpPr/>
          <p:nvPr/>
        </p:nvSpPr>
        <p:spPr>
          <a:xfrm>
            <a:off x="8765041" y="4092580"/>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64" name="Text 30"/>
          <p:cNvSpPr txBox="1"/>
          <p:nvPr/>
        </p:nvSpPr>
        <p:spPr>
          <a:xfrm>
            <a:off x="8859614" y="4131300"/>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3</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68"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169" name="Shape 1"/>
          <p:cNvSpPr/>
          <p:nvPr/>
        </p:nvSpPr>
        <p:spPr>
          <a:xfrm>
            <a:off x="711192" y="1368777"/>
            <a:ext cx="355576" cy="38076"/>
          </a:xfrm>
          <a:prstGeom prst="roundRect">
            <a:avLst>
              <a:gd name="adj" fmla="val 50000"/>
            </a:avLst>
          </a:prstGeom>
          <a:solidFill>
            <a:srgbClr val="0E1116"/>
          </a:solidFill>
          <a:ln w="12700">
            <a:miter lim="400000"/>
          </a:ln>
        </p:spPr>
        <p:txBody>
          <a:bodyPr lIns="45719" rIns="45719"/>
          <a:lstStyle/>
          <a:p>
            <a:pPr/>
          </a:p>
        </p:txBody>
      </p:sp>
      <p:sp>
        <p:nvSpPr>
          <p:cNvPr id="170" name="Shape 2"/>
          <p:cNvSpPr/>
          <p:nvPr/>
        </p:nvSpPr>
        <p:spPr>
          <a:xfrm>
            <a:off x="1117534" y="1368777"/>
            <a:ext cx="355576" cy="38076"/>
          </a:xfrm>
          <a:prstGeom prst="roundRect">
            <a:avLst>
              <a:gd name="adj" fmla="val 50000"/>
            </a:avLst>
          </a:prstGeom>
          <a:solidFill>
            <a:srgbClr val="3358D4"/>
          </a:solidFill>
          <a:ln w="12700">
            <a:miter lim="400000"/>
          </a:ln>
        </p:spPr>
        <p:txBody>
          <a:bodyPr lIns="45719" rIns="45719"/>
          <a:lstStyle/>
          <a:p>
            <a:pPr/>
          </a:p>
        </p:txBody>
      </p:sp>
      <p:sp>
        <p:nvSpPr>
          <p:cNvPr id="171" name="Shape 3"/>
          <p:cNvSpPr/>
          <p:nvPr/>
        </p:nvSpPr>
        <p:spPr>
          <a:xfrm>
            <a:off x="1523875" y="1368777"/>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72" name="Shape 4"/>
          <p:cNvSpPr/>
          <p:nvPr/>
        </p:nvSpPr>
        <p:spPr>
          <a:xfrm>
            <a:off x="1930218" y="1368777"/>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73" name="Shape 5"/>
          <p:cNvSpPr/>
          <p:nvPr/>
        </p:nvSpPr>
        <p:spPr>
          <a:xfrm>
            <a:off x="2336560" y="1368777"/>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74" name="Shape 6"/>
          <p:cNvSpPr/>
          <p:nvPr/>
        </p:nvSpPr>
        <p:spPr>
          <a:xfrm>
            <a:off x="2742901" y="1368777"/>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75" name="Shape 7"/>
          <p:cNvSpPr/>
          <p:nvPr/>
        </p:nvSpPr>
        <p:spPr>
          <a:xfrm>
            <a:off x="3149244" y="1368777"/>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176" name="Text 8"/>
          <p:cNvSpPr txBox="1"/>
          <p:nvPr/>
        </p:nvSpPr>
        <p:spPr>
          <a:xfrm>
            <a:off x="3631786" y="1277366"/>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2 / 7</a:t>
            </a:r>
          </a:p>
        </p:txBody>
      </p:sp>
      <p:sp>
        <p:nvSpPr>
          <p:cNvPr id="177" name="Text 9"/>
          <p:cNvSpPr txBox="1"/>
          <p:nvPr/>
        </p:nvSpPr>
        <p:spPr>
          <a:xfrm>
            <a:off x="711192" y="1676052"/>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2</a:t>
            </a:r>
          </a:p>
        </p:txBody>
      </p:sp>
      <p:sp>
        <p:nvSpPr>
          <p:cNvPr id="178" name="Shape 10"/>
          <p:cNvSpPr/>
          <p:nvPr/>
        </p:nvSpPr>
        <p:spPr>
          <a:xfrm>
            <a:off x="1709415" y="1637977"/>
            <a:ext cx="396173" cy="271695"/>
          </a:xfrm>
          <a:prstGeom prst="roundRect">
            <a:avLst>
              <a:gd name="adj" fmla="val 50000"/>
            </a:avLst>
          </a:prstGeom>
          <a:solidFill>
            <a:srgbClr val="EDF1FD"/>
          </a:solidFill>
          <a:ln w="12700">
            <a:miter lim="400000"/>
          </a:ln>
        </p:spPr>
        <p:txBody>
          <a:bodyPr lIns="45719" rIns="45719"/>
          <a:lstStyle/>
          <a:p>
            <a:pPr/>
          </a:p>
        </p:txBody>
      </p:sp>
      <p:sp>
        <p:nvSpPr>
          <p:cNvPr id="179" name="Text 11"/>
          <p:cNvSpPr txBox="1"/>
          <p:nvPr/>
        </p:nvSpPr>
        <p:spPr>
          <a:xfrm>
            <a:off x="1823715" y="1676077"/>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2A47AE"/>
                </a:solidFill>
                <a:latin typeface="Geist Mono"/>
                <a:ea typeface="Geist Mono"/>
                <a:cs typeface="Geist Mono"/>
                <a:sym typeface="Geist Mono"/>
              </a:defRPr>
            </a:lvl1pPr>
          </a:lstStyle>
          <a:p>
            <a:pPr/>
            <a:r>
              <a:t>TA</a:t>
            </a:r>
          </a:p>
        </p:txBody>
      </p:sp>
      <p:sp>
        <p:nvSpPr>
          <p:cNvPr id="180" name="Text 12"/>
          <p:cNvSpPr txBox="1"/>
          <p:nvPr/>
        </p:nvSpPr>
        <p:spPr>
          <a:xfrm>
            <a:off x="711191" y="2087438"/>
            <a:ext cx="3531872"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The TA grades the scan</a:t>
            </a:r>
          </a:p>
        </p:txBody>
      </p:sp>
      <p:sp>
        <p:nvSpPr>
          <p:cNvPr id="181" name="Text 13"/>
          <p:cNvSpPr txBox="1"/>
          <p:nvPr/>
        </p:nvSpPr>
        <p:spPr>
          <a:xfrm>
            <a:off x="711191" y="3038614"/>
            <a:ext cx="3531872" cy="98302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Nikos uploads the handwritten paper of student csd5150 as a PDF. A vision model reads it and puts each answer under its question.</a:t>
            </a:r>
          </a:p>
        </p:txBody>
      </p:sp>
      <p:sp>
        <p:nvSpPr>
          <p:cNvPr id="182" name="Shape 14"/>
          <p:cNvSpPr/>
          <p:nvPr/>
        </p:nvSpPr>
        <p:spPr>
          <a:xfrm>
            <a:off x="711192" y="4174009"/>
            <a:ext cx="254001" cy="254001"/>
          </a:xfrm>
          <a:prstGeom prst="roundRect">
            <a:avLst>
              <a:gd name="adj" fmla="val 50000"/>
            </a:avLst>
          </a:prstGeom>
          <a:solidFill>
            <a:srgbClr val="0E1116"/>
          </a:solidFill>
          <a:ln w="12700">
            <a:miter lim="400000"/>
          </a:ln>
        </p:spPr>
        <p:txBody>
          <a:bodyPr lIns="45719" rIns="45719"/>
          <a:lstStyle/>
          <a:p>
            <a:pPr/>
          </a:p>
        </p:txBody>
      </p:sp>
      <p:sp>
        <p:nvSpPr>
          <p:cNvPr id="183" name="Text 15"/>
          <p:cNvSpPr txBox="1"/>
          <p:nvPr/>
        </p:nvSpPr>
        <p:spPr>
          <a:xfrm>
            <a:off x="800075" y="4212123"/>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184" name="Text 16"/>
          <p:cNvSpPr txBox="1"/>
          <p:nvPr/>
        </p:nvSpPr>
        <p:spPr>
          <a:xfrm>
            <a:off x="1079459" y="4174009"/>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transcribed answer. Words the model is unsure of are highlighted to fix.</a:t>
            </a:r>
          </a:p>
        </p:txBody>
      </p:sp>
      <p:sp>
        <p:nvSpPr>
          <p:cNvPr id="185" name="Shape 17"/>
          <p:cNvSpPr/>
          <p:nvPr/>
        </p:nvSpPr>
        <p:spPr>
          <a:xfrm>
            <a:off x="711192" y="4756670"/>
            <a:ext cx="254001" cy="254001"/>
          </a:xfrm>
          <a:prstGeom prst="roundRect">
            <a:avLst>
              <a:gd name="adj" fmla="val 50000"/>
            </a:avLst>
          </a:prstGeom>
          <a:solidFill>
            <a:srgbClr val="0E1116"/>
          </a:solidFill>
          <a:ln w="12700">
            <a:miter lim="400000"/>
          </a:ln>
        </p:spPr>
        <p:txBody>
          <a:bodyPr lIns="45719" rIns="45719"/>
          <a:lstStyle/>
          <a:p>
            <a:pPr/>
          </a:p>
        </p:txBody>
      </p:sp>
      <p:sp>
        <p:nvSpPr>
          <p:cNvPr id="186" name="Text 18"/>
          <p:cNvSpPr txBox="1"/>
          <p:nvPr/>
        </p:nvSpPr>
        <p:spPr>
          <a:xfrm>
            <a:off x="800075" y="4794786"/>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187" name="Text 19"/>
          <p:cNvSpPr txBox="1"/>
          <p:nvPr/>
        </p:nvSpPr>
        <p:spPr>
          <a:xfrm>
            <a:off x="1079459" y="4756670"/>
            <a:ext cx="3152556" cy="25323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rubric sits right above the answer.</a:t>
            </a:r>
          </a:p>
        </p:txBody>
      </p:sp>
      <p:sp>
        <p:nvSpPr>
          <p:cNvPr id="188" name="Shape 20"/>
          <p:cNvSpPr/>
          <p:nvPr/>
        </p:nvSpPr>
        <p:spPr>
          <a:xfrm>
            <a:off x="711192" y="5137670"/>
            <a:ext cx="254001" cy="254001"/>
          </a:xfrm>
          <a:prstGeom prst="roundRect">
            <a:avLst>
              <a:gd name="adj" fmla="val 50000"/>
            </a:avLst>
          </a:prstGeom>
          <a:solidFill>
            <a:srgbClr val="0E1116"/>
          </a:solidFill>
          <a:ln w="12700">
            <a:miter lim="400000"/>
          </a:ln>
        </p:spPr>
        <p:txBody>
          <a:bodyPr lIns="45719" rIns="45719"/>
          <a:lstStyle/>
          <a:p>
            <a:pPr/>
          </a:p>
        </p:txBody>
      </p:sp>
      <p:sp>
        <p:nvSpPr>
          <p:cNvPr id="189" name="Text 21"/>
          <p:cNvSpPr txBox="1"/>
          <p:nvPr/>
        </p:nvSpPr>
        <p:spPr>
          <a:xfrm>
            <a:off x="800075" y="5175786"/>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3</a:t>
            </a:r>
          </a:p>
        </p:txBody>
      </p:sp>
      <p:sp>
        <p:nvSpPr>
          <p:cNvPr id="190" name="Text 22"/>
          <p:cNvSpPr txBox="1"/>
          <p:nvPr/>
        </p:nvSpPr>
        <p:spPr>
          <a:xfrm>
            <a:off x="1079459" y="5137670"/>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Nikos scores each answer, then submits. The grade locks.</a:t>
            </a:r>
          </a:p>
        </p:txBody>
      </p:sp>
      <p:sp>
        <p:nvSpPr>
          <p:cNvPr id="191" name="Shape 23"/>
          <p:cNvSpPr/>
          <p:nvPr/>
        </p:nvSpPr>
        <p:spPr>
          <a:xfrm>
            <a:off x="4498942" y="893247"/>
            <a:ext cx="6978651" cy="5071461"/>
          </a:xfrm>
          <a:prstGeom prst="roundRect">
            <a:avLst>
              <a:gd name="adj" fmla="val 3193"/>
            </a:avLst>
          </a:prstGeom>
          <a:solidFill>
            <a:srgbClr val="0E1116">
              <a:alpha val="4000"/>
            </a:srgbClr>
          </a:solidFill>
          <a:ln w="6350">
            <a:solidFill>
              <a:srgbClr val="0E1116">
                <a:alpha val="8000"/>
              </a:srgbClr>
            </a:solidFill>
          </a:ln>
        </p:spPr>
        <p:txBody>
          <a:bodyPr lIns="45719" rIns="45719"/>
          <a:lstStyle/>
          <a:p>
            <a:pPr/>
          </a:p>
        </p:txBody>
      </p:sp>
      <p:pic>
        <p:nvPicPr>
          <p:cNvPr id="192" name="Image 0" descr="Image 0"/>
          <p:cNvPicPr>
            <a:picLocks noChangeAspect="1"/>
          </p:cNvPicPr>
          <p:nvPr/>
        </p:nvPicPr>
        <p:blipFill>
          <a:blip r:embed="rId3">
            <a:extLst/>
          </a:blip>
          <a:srcRect l="0" t="17" r="0" b="16"/>
          <a:stretch>
            <a:fillRect/>
          </a:stretch>
        </p:blipFill>
        <p:spPr>
          <a:xfrm>
            <a:off x="4551824" y="946131"/>
            <a:ext cx="6870691" cy="4965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23"/>
                  <a:pt x="0" y="497"/>
                </a:cubicBezTo>
                <a:lnTo>
                  <a:pt x="0" y="21103"/>
                </a:lnTo>
                <a:cubicBezTo>
                  <a:pt x="0" y="21377"/>
                  <a:pt x="161" y="21600"/>
                  <a:pt x="359" y="21600"/>
                </a:cubicBezTo>
                <a:lnTo>
                  <a:pt x="21241" y="21600"/>
                </a:lnTo>
                <a:cubicBezTo>
                  <a:pt x="21439" y="21600"/>
                  <a:pt x="21600" y="21377"/>
                  <a:pt x="21600" y="21103"/>
                </a:cubicBezTo>
                <a:lnTo>
                  <a:pt x="21600" y="497"/>
                </a:lnTo>
                <a:cubicBezTo>
                  <a:pt x="21600" y="223"/>
                  <a:pt x="21439" y="0"/>
                  <a:pt x="21241" y="0"/>
                </a:cubicBezTo>
                <a:lnTo>
                  <a:pt x="359" y="0"/>
                </a:lnTo>
                <a:close/>
              </a:path>
            </a:pathLst>
          </a:custGeom>
          <a:ln w="12700">
            <a:miter lim="400000"/>
          </a:ln>
        </p:spPr>
      </p:pic>
      <p:sp>
        <p:nvSpPr>
          <p:cNvPr id="193" name="Shape 24"/>
          <p:cNvSpPr/>
          <p:nvPr/>
        </p:nvSpPr>
        <p:spPr>
          <a:xfrm>
            <a:off x="4799467" y="3270215"/>
            <a:ext cx="6273792" cy="857234"/>
          </a:xfrm>
          <a:prstGeom prst="roundRect">
            <a:avLst>
              <a:gd name="adj" fmla="val 8889"/>
            </a:avLst>
          </a:prstGeom>
          <a:ln w="25400">
            <a:solidFill>
              <a:srgbClr val="3358D4"/>
            </a:solidFill>
          </a:ln>
          <a:effectLst>
            <a:outerShdw sx="100000" sy="100000" kx="0" ky="0" algn="b" rotWithShape="0" blurRad="38100" dist="0" dir="60000">
              <a:srgbClr val="3358D4">
                <a:alpha val="20000"/>
              </a:srgbClr>
            </a:outerShdw>
          </a:effectLst>
        </p:spPr>
        <p:txBody>
          <a:bodyPr lIns="45719" rIns="45719"/>
          <a:lstStyle/>
          <a:p>
            <a:pPr/>
          </a:p>
        </p:txBody>
      </p:sp>
      <p:sp>
        <p:nvSpPr>
          <p:cNvPr id="194" name="Shape 25"/>
          <p:cNvSpPr/>
          <p:nvPr/>
        </p:nvSpPr>
        <p:spPr>
          <a:xfrm>
            <a:off x="4586733" y="3260675"/>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95" name="Text 26"/>
          <p:cNvSpPr txBox="1"/>
          <p:nvPr/>
        </p:nvSpPr>
        <p:spPr>
          <a:xfrm>
            <a:off x="4681306" y="3299395"/>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196" name="Shape 27"/>
          <p:cNvSpPr/>
          <p:nvPr/>
        </p:nvSpPr>
        <p:spPr>
          <a:xfrm>
            <a:off x="4586733" y="26066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97" name="Text 28"/>
          <p:cNvSpPr txBox="1"/>
          <p:nvPr/>
        </p:nvSpPr>
        <p:spPr>
          <a:xfrm>
            <a:off x="4681306" y="264537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
        <p:nvSpPr>
          <p:cNvPr id="198" name="Shape 29"/>
          <p:cNvSpPr/>
          <p:nvPr/>
        </p:nvSpPr>
        <p:spPr>
          <a:xfrm>
            <a:off x="4586733" y="42576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199" name="Text 30"/>
          <p:cNvSpPr txBox="1"/>
          <p:nvPr/>
        </p:nvSpPr>
        <p:spPr>
          <a:xfrm>
            <a:off x="4681306" y="4296376"/>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3</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203"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204" name="Shape 1"/>
          <p:cNvSpPr/>
          <p:nvPr/>
        </p:nvSpPr>
        <p:spPr>
          <a:xfrm>
            <a:off x="711192" y="1374631"/>
            <a:ext cx="355576" cy="38076"/>
          </a:xfrm>
          <a:prstGeom prst="roundRect">
            <a:avLst>
              <a:gd name="adj" fmla="val 50000"/>
            </a:avLst>
          </a:prstGeom>
          <a:solidFill>
            <a:srgbClr val="0E1116"/>
          </a:solidFill>
          <a:ln w="12700">
            <a:miter lim="400000"/>
          </a:ln>
        </p:spPr>
        <p:txBody>
          <a:bodyPr lIns="45719" rIns="45719"/>
          <a:lstStyle/>
          <a:p>
            <a:pPr/>
          </a:p>
        </p:txBody>
      </p:sp>
      <p:sp>
        <p:nvSpPr>
          <p:cNvPr id="205" name="Shape 2"/>
          <p:cNvSpPr/>
          <p:nvPr/>
        </p:nvSpPr>
        <p:spPr>
          <a:xfrm>
            <a:off x="1117534" y="1374631"/>
            <a:ext cx="355576" cy="38076"/>
          </a:xfrm>
          <a:prstGeom prst="roundRect">
            <a:avLst>
              <a:gd name="adj" fmla="val 50000"/>
            </a:avLst>
          </a:prstGeom>
          <a:solidFill>
            <a:srgbClr val="0E1116"/>
          </a:solidFill>
          <a:ln w="12700">
            <a:miter lim="400000"/>
          </a:ln>
        </p:spPr>
        <p:txBody>
          <a:bodyPr lIns="45719" rIns="45719"/>
          <a:lstStyle/>
          <a:p>
            <a:pPr/>
          </a:p>
        </p:txBody>
      </p:sp>
      <p:sp>
        <p:nvSpPr>
          <p:cNvPr id="206" name="Shape 3"/>
          <p:cNvSpPr/>
          <p:nvPr/>
        </p:nvSpPr>
        <p:spPr>
          <a:xfrm>
            <a:off x="1523875" y="1374631"/>
            <a:ext cx="355576" cy="38076"/>
          </a:xfrm>
          <a:prstGeom prst="roundRect">
            <a:avLst>
              <a:gd name="adj" fmla="val 50000"/>
            </a:avLst>
          </a:prstGeom>
          <a:solidFill>
            <a:srgbClr val="3358D4"/>
          </a:solidFill>
          <a:ln w="12700">
            <a:miter lim="400000"/>
          </a:ln>
        </p:spPr>
        <p:txBody>
          <a:bodyPr lIns="45719" rIns="45719"/>
          <a:lstStyle/>
          <a:p>
            <a:pPr/>
          </a:p>
        </p:txBody>
      </p:sp>
      <p:sp>
        <p:nvSpPr>
          <p:cNvPr id="207" name="Shape 4"/>
          <p:cNvSpPr/>
          <p:nvPr/>
        </p:nvSpPr>
        <p:spPr>
          <a:xfrm>
            <a:off x="1930218" y="1374631"/>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208" name="Shape 5"/>
          <p:cNvSpPr/>
          <p:nvPr/>
        </p:nvSpPr>
        <p:spPr>
          <a:xfrm>
            <a:off x="2336560" y="1374631"/>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209" name="Shape 6"/>
          <p:cNvSpPr/>
          <p:nvPr/>
        </p:nvSpPr>
        <p:spPr>
          <a:xfrm>
            <a:off x="2742901" y="1374631"/>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210" name="Shape 7"/>
          <p:cNvSpPr/>
          <p:nvPr/>
        </p:nvSpPr>
        <p:spPr>
          <a:xfrm>
            <a:off x="3149244" y="1374631"/>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211" name="Text 8"/>
          <p:cNvSpPr txBox="1"/>
          <p:nvPr/>
        </p:nvSpPr>
        <p:spPr>
          <a:xfrm>
            <a:off x="3631786" y="1295920"/>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3 / 7</a:t>
            </a:r>
          </a:p>
        </p:txBody>
      </p:sp>
      <p:sp>
        <p:nvSpPr>
          <p:cNvPr id="212" name="Text 9"/>
          <p:cNvSpPr txBox="1"/>
          <p:nvPr/>
        </p:nvSpPr>
        <p:spPr>
          <a:xfrm>
            <a:off x="711192" y="1643807"/>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3</a:t>
            </a:r>
          </a:p>
        </p:txBody>
      </p:sp>
      <p:sp>
        <p:nvSpPr>
          <p:cNvPr id="213" name="Shape 10"/>
          <p:cNvSpPr/>
          <p:nvPr/>
        </p:nvSpPr>
        <p:spPr>
          <a:xfrm>
            <a:off x="1709415" y="1605730"/>
            <a:ext cx="396173" cy="271695"/>
          </a:xfrm>
          <a:prstGeom prst="roundRect">
            <a:avLst>
              <a:gd name="adj" fmla="val 50000"/>
            </a:avLst>
          </a:prstGeom>
          <a:solidFill>
            <a:srgbClr val="FFF4DE"/>
          </a:solidFill>
          <a:ln w="12700">
            <a:miter lim="400000"/>
          </a:ln>
        </p:spPr>
        <p:txBody>
          <a:bodyPr lIns="45719" rIns="45719"/>
          <a:lstStyle/>
          <a:p>
            <a:pPr/>
          </a:p>
        </p:txBody>
      </p:sp>
      <p:sp>
        <p:nvSpPr>
          <p:cNvPr id="214" name="Text 11"/>
          <p:cNvSpPr txBox="1"/>
          <p:nvPr/>
        </p:nvSpPr>
        <p:spPr>
          <a:xfrm>
            <a:off x="1823715" y="1643831"/>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5A12"/>
                </a:solidFill>
                <a:latin typeface="Geist Mono"/>
                <a:ea typeface="Geist Mono"/>
                <a:cs typeface="Geist Mono"/>
                <a:sym typeface="Geist Mono"/>
              </a:defRPr>
            </a:lvl1pPr>
          </a:lstStyle>
          <a:p>
            <a:pPr/>
            <a:r>
              <a:t>AI</a:t>
            </a:r>
          </a:p>
        </p:txBody>
      </p:sp>
      <p:sp>
        <p:nvSpPr>
          <p:cNvPr id="215" name="Text 12"/>
          <p:cNvSpPr txBox="1"/>
          <p:nvPr/>
        </p:nvSpPr>
        <p:spPr>
          <a:xfrm>
            <a:off x="711191" y="2055191"/>
            <a:ext cx="3531872" cy="7988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The AI grades the same answers</a:t>
            </a:r>
          </a:p>
        </p:txBody>
      </p:sp>
      <p:sp>
        <p:nvSpPr>
          <p:cNvPr id="216" name="Text 13"/>
          <p:cNvSpPr txBox="1"/>
          <p:nvPr/>
        </p:nvSpPr>
        <p:spPr>
          <a:xfrm>
            <a:off x="711191" y="3006368"/>
            <a:ext cx="3531872" cy="743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On submit, the AI grades csd5146 blind. It never sees Nikos's points or the student's name.</a:t>
            </a:r>
          </a:p>
        </p:txBody>
      </p:sp>
      <p:sp>
        <p:nvSpPr>
          <p:cNvPr id="217" name="Shape 14"/>
          <p:cNvSpPr/>
          <p:nvPr/>
        </p:nvSpPr>
        <p:spPr>
          <a:xfrm>
            <a:off x="711192" y="3905529"/>
            <a:ext cx="1024475" cy="1"/>
          </a:xfrm>
          <a:prstGeom prst="line">
            <a:avLst/>
          </a:prstGeom>
          <a:ln w="6350">
            <a:solidFill>
              <a:srgbClr val="0E1116">
                <a:alpha val="12000"/>
              </a:srgbClr>
            </a:solidFill>
          </a:ln>
        </p:spPr>
        <p:txBody>
          <a:bodyPr lIns="45719" rIns="45719"/>
          <a:lstStyle/>
          <a:p>
            <a:pPr/>
          </a:p>
        </p:txBody>
      </p:sp>
      <p:sp>
        <p:nvSpPr>
          <p:cNvPr id="218" name="Text 15"/>
          <p:cNvSpPr txBox="1"/>
          <p:nvPr/>
        </p:nvSpPr>
        <p:spPr>
          <a:xfrm>
            <a:off x="711191" y="3996530"/>
            <a:ext cx="1075277"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a:ea typeface="Geist"/>
                <a:cs typeface="Geist"/>
                <a:sym typeface="Geist"/>
              </a:defRPr>
            </a:lvl1pPr>
          </a:lstStyle>
          <a:p>
            <a:pPr/>
            <a:r>
              <a:t>Nikos</a:t>
            </a:r>
          </a:p>
        </p:txBody>
      </p:sp>
      <p:sp>
        <p:nvSpPr>
          <p:cNvPr id="219" name="Text 16"/>
          <p:cNvSpPr txBox="1"/>
          <p:nvPr/>
        </p:nvSpPr>
        <p:spPr>
          <a:xfrm>
            <a:off x="711191" y="4204766"/>
            <a:ext cx="1075277" cy="4317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200"/>
              </a:lnSpc>
              <a:defRPr b="1" spc="-100" sz="3200">
                <a:solidFill>
                  <a:srgbClr val="0E1116"/>
                </a:solidFill>
                <a:latin typeface="Geist"/>
                <a:ea typeface="Geist"/>
                <a:cs typeface="Geist"/>
                <a:sym typeface="Geist"/>
              </a:defRPr>
            </a:lvl1pPr>
          </a:lstStyle>
          <a:p>
            <a:pPr/>
            <a:r>
              <a:t>7</a:t>
            </a:r>
          </a:p>
        </p:txBody>
      </p:sp>
      <p:sp>
        <p:nvSpPr>
          <p:cNvPr id="220" name="Shape 17"/>
          <p:cNvSpPr/>
          <p:nvPr/>
        </p:nvSpPr>
        <p:spPr>
          <a:xfrm>
            <a:off x="1913433" y="3905529"/>
            <a:ext cx="1024516" cy="1"/>
          </a:xfrm>
          <a:prstGeom prst="line">
            <a:avLst/>
          </a:prstGeom>
          <a:ln w="6350">
            <a:solidFill>
              <a:srgbClr val="0E1116">
                <a:alpha val="12000"/>
              </a:srgbClr>
            </a:solidFill>
          </a:ln>
        </p:spPr>
        <p:txBody>
          <a:bodyPr lIns="45719" rIns="45719"/>
          <a:lstStyle/>
          <a:p>
            <a:pPr/>
          </a:p>
        </p:txBody>
      </p:sp>
      <p:sp>
        <p:nvSpPr>
          <p:cNvPr id="221" name="Text 18"/>
          <p:cNvSpPr txBox="1"/>
          <p:nvPr/>
        </p:nvSpPr>
        <p:spPr>
          <a:xfrm>
            <a:off x="1913433" y="3996530"/>
            <a:ext cx="1075317"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a:ea typeface="Geist"/>
                <a:cs typeface="Geist"/>
                <a:sym typeface="Geist"/>
              </a:defRPr>
            </a:lvl1pPr>
          </a:lstStyle>
          <a:p>
            <a:pPr/>
            <a:r>
              <a:t>AI</a:t>
            </a:r>
          </a:p>
        </p:txBody>
      </p:sp>
      <p:sp>
        <p:nvSpPr>
          <p:cNvPr id="222" name="Text 19"/>
          <p:cNvSpPr txBox="1"/>
          <p:nvPr/>
        </p:nvSpPr>
        <p:spPr>
          <a:xfrm>
            <a:off x="1913433" y="4204766"/>
            <a:ext cx="1075317" cy="4317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200"/>
              </a:lnSpc>
              <a:defRPr b="1" spc="-100" sz="3200">
                <a:solidFill>
                  <a:srgbClr val="2A47AE"/>
                </a:solidFill>
                <a:latin typeface="Geist"/>
                <a:ea typeface="Geist"/>
                <a:cs typeface="Geist"/>
                <a:sym typeface="Geist"/>
              </a:defRPr>
            </a:lvl1pPr>
          </a:lstStyle>
          <a:p>
            <a:pPr/>
            <a:r>
              <a:t>8</a:t>
            </a:r>
          </a:p>
        </p:txBody>
      </p:sp>
      <p:sp>
        <p:nvSpPr>
          <p:cNvPr id="223" name="Shape 20"/>
          <p:cNvSpPr/>
          <p:nvPr/>
        </p:nvSpPr>
        <p:spPr>
          <a:xfrm>
            <a:off x="3115716" y="3905529"/>
            <a:ext cx="1024475" cy="1"/>
          </a:xfrm>
          <a:prstGeom prst="line">
            <a:avLst/>
          </a:prstGeom>
          <a:ln w="6350">
            <a:solidFill>
              <a:srgbClr val="0E1116">
                <a:alpha val="12000"/>
              </a:srgbClr>
            </a:solidFill>
          </a:ln>
        </p:spPr>
        <p:txBody>
          <a:bodyPr lIns="45719" rIns="45719"/>
          <a:lstStyle/>
          <a:p>
            <a:pPr/>
          </a:p>
        </p:txBody>
      </p:sp>
      <p:sp>
        <p:nvSpPr>
          <p:cNvPr id="224" name="Text 21"/>
          <p:cNvSpPr txBox="1"/>
          <p:nvPr/>
        </p:nvSpPr>
        <p:spPr>
          <a:xfrm>
            <a:off x="3115716" y="3996530"/>
            <a:ext cx="1075277"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a:ea typeface="Geist"/>
                <a:cs typeface="Geist"/>
                <a:sym typeface="Geist"/>
              </a:defRPr>
            </a:lvl1pPr>
          </a:lstStyle>
          <a:p>
            <a:pPr/>
            <a:r>
              <a:t>Gap</a:t>
            </a:r>
          </a:p>
        </p:txBody>
      </p:sp>
      <p:sp>
        <p:nvSpPr>
          <p:cNvPr id="225" name="Text 22"/>
          <p:cNvSpPr txBox="1"/>
          <p:nvPr/>
        </p:nvSpPr>
        <p:spPr>
          <a:xfrm>
            <a:off x="3115716" y="4204766"/>
            <a:ext cx="1075277" cy="4317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200"/>
              </a:lnSpc>
              <a:defRPr b="1" spc="-100" sz="3200">
                <a:solidFill>
                  <a:srgbClr val="A82E2E"/>
                </a:solidFill>
                <a:latin typeface="Geist"/>
                <a:ea typeface="Geist"/>
                <a:cs typeface="Geist"/>
                <a:sym typeface="Geist"/>
              </a:defRPr>
            </a:lvl1pPr>
          </a:lstStyle>
          <a:p>
            <a:pPr/>
            <a:r>
              <a:t>−1</a:t>
            </a:r>
          </a:p>
        </p:txBody>
      </p:sp>
      <p:sp>
        <p:nvSpPr>
          <p:cNvPr id="226" name="Shape 23"/>
          <p:cNvSpPr/>
          <p:nvPr/>
        </p:nvSpPr>
        <p:spPr>
          <a:xfrm>
            <a:off x="711192" y="4788916"/>
            <a:ext cx="254001" cy="254001"/>
          </a:xfrm>
          <a:prstGeom prst="roundRect">
            <a:avLst>
              <a:gd name="adj" fmla="val 50000"/>
            </a:avLst>
          </a:prstGeom>
          <a:solidFill>
            <a:srgbClr val="0E1116"/>
          </a:solidFill>
          <a:ln w="12700">
            <a:miter lim="400000"/>
          </a:ln>
        </p:spPr>
        <p:txBody>
          <a:bodyPr lIns="45719" rIns="45719"/>
          <a:lstStyle/>
          <a:p>
            <a:pPr/>
          </a:p>
        </p:txBody>
      </p:sp>
      <p:sp>
        <p:nvSpPr>
          <p:cNvPr id="227" name="Text 24"/>
          <p:cNvSpPr txBox="1"/>
          <p:nvPr/>
        </p:nvSpPr>
        <p:spPr>
          <a:xfrm>
            <a:off x="800075" y="4827032"/>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228" name="Text 25"/>
          <p:cNvSpPr txBox="1"/>
          <p:nvPr/>
        </p:nvSpPr>
        <p:spPr>
          <a:xfrm>
            <a:off x="1079459" y="4788916"/>
            <a:ext cx="3152556" cy="25323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Q2: Nikos gave 1 of 3, the AI gave 2.</a:t>
            </a:r>
          </a:p>
        </p:txBody>
      </p:sp>
      <p:sp>
        <p:nvSpPr>
          <p:cNvPr id="229" name="Shape 26"/>
          <p:cNvSpPr/>
          <p:nvPr/>
        </p:nvSpPr>
        <p:spPr>
          <a:xfrm>
            <a:off x="711192" y="5169916"/>
            <a:ext cx="254001" cy="254001"/>
          </a:xfrm>
          <a:prstGeom prst="roundRect">
            <a:avLst>
              <a:gd name="adj" fmla="val 50000"/>
            </a:avLst>
          </a:prstGeom>
          <a:solidFill>
            <a:srgbClr val="0E1116"/>
          </a:solidFill>
          <a:ln w="12700">
            <a:miter lim="400000"/>
          </a:ln>
        </p:spPr>
        <p:txBody>
          <a:bodyPr lIns="45719" rIns="45719"/>
          <a:lstStyle/>
          <a:p>
            <a:pPr/>
          </a:p>
        </p:txBody>
      </p:sp>
      <p:sp>
        <p:nvSpPr>
          <p:cNvPr id="230" name="Text 27"/>
          <p:cNvSpPr txBox="1"/>
          <p:nvPr/>
        </p:nvSpPr>
        <p:spPr>
          <a:xfrm>
            <a:off x="800075" y="5208032"/>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231" name="Text 28"/>
          <p:cNvSpPr txBox="1"/>
          <p:nvPr/>
        </p:nvSpPr>
        <p:spPr>
          <a:xfrm>
            <a:off x="1079459" y="5169916"/>
            <a:ext cx="3152556" cy="48106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Every AI score comes with its reasoning. Nikos sees it only after he submits.</a:t>
            </a:r>
          </a:p>
        </p:txBody>
      </p:sp>
      <p:sp>
        <p:nvSpPr>
          <p:cNvPr id="232" name="Shape 29"/>
          <p:cNvSpPr/>
          <p:nvPr/>
        </p:nvSpPr>
        <p:spPr>
          <a:xfrm>
            <a:off x="4498942" y="734497"/>
            <a:ext cx="6978651" cy="5388961"/>
          </a:xfrm>
          <a:prstGeom prst="roundRect">
            <a:avLst>
              <a:gd name="adj" fmla="val 3005"/>
            </a:avLst>
          </a:prstGeom>
          <a:solidFill>
            <a:srgbClr val="0E1116">
              <a:alpha val="4000"/>
            </a:srgbClr>
          </a:solidFill>
          <a:ln w="6350">
            <a:solidFill>
              <a:srgbClr val="0E1116">
                <a:alpha val="8000"/>
              </a:srgbClr>
            </a:solidFill>
          </a:ln>
        </p:spPr>
        <p:txBody>
          <a:bodyPr lIns="45719" rIns="45719"/>
          <a:lstStyle/>
          <a:p>
            <a:pPr/>
          </a:p>
        </p:txBody>
      </p:sp>
      <p:pic>
        <p:nvPicPr>
          <p:cNvPr id="233" name="Image 0" descr="Image 0"/>
          <p:cNvPicPr>
            <a:picLocks noChangeAspect="1"/>
          </p:cNvPicPr>
          <p:nvPr/>
        </p:nvPicPr>
        <p:blipFill>
          <a:blip r:embed="rId3">
            <a:extLst/>
          </a:blip>
          <a:srcRect l="0" t="19" r="0" b="18"/>
          <a:stretch>
            <a:fillRect/>
          </a:stretch>
        </p:blipFill>
        <p:spPr>
          <a:xfrm>
            <a:off x="4551824" y="787380"/>
            <a:ext cx="6870691" cy="5283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09"/>
                  <a:pt x="0" y="467"/>
                </a:cubicBezTo>
                <a:lnTo>
                  <a:pt x="0" y="21133"/>
                </a:lnTo>
                <a:cubicBezTo>
                  <a:pt x="0" y="21391"/>
                  <a:pt x="161" y="21600"/>
                  <a:pt x="359" y="21600"/>
                </a:cubicBezTo>
                <a:lnTo>
                  <a:pt x="21241" y="21600"/>
                </a:lnTo>
                <a:cubicBezTo>
                  <a:pt x="21439" y="21600"/>
                  <a:pt x="21600" y="21391"/>
                  <a:pt x="21600" y="21133"/>
                </a:cubicBezTo>
                <a:lnTo>
                  <a:pt x="21600" y="467"/>
                </a:lnTo>
                <a:cubicBezTo>
                  <a:pt x="21600" y="209"/>
                  <a:pt x="21439" y="0"/>
                  <a:pt x="21241" y="0"/>
                </a:cubicBezTo>
                <a:lnTo>
                  <a:pt x="359" y="0"/>
                </a:lnTo>
                <a:close/>
              </a:path>
            </a:pathLst>
          </a:custGeom>
          <a:ln w="12700">
            <a:miter lim="400000"/>
          </a:ln>
        </p:spPr>
      </p:pic>
      <p:sp>
        <p:nvSpPr>
          <p:cNvPr id="234" name="Shape 30"/>
          <p:cNvSpPr/>
          <p:nvPr/>
        </p:nvSpPr>
        <p:spPr>
          <a:xfrm>
            <a:off x="4697850" y="2863831"/>
            <a:ext cx="6489675" cy="1771618"/>
          </a:xfrm>
          <a:prstGeom prst="roundRect">
            <a:avLst>
              <a:gd name="adj" fmla="val 4301"/>
            </a:avLst>
          </a:prstGeom>
          <a:ln w="25400">
            <a:solidFill>
              <a:srgbClr val="D64545"/>
            </a:solidFill>
          </a:ln>
          <a:effectLst>
            <a:outerShdw sx="100000" sy="100000" kx="0" ky="0" algn="b" rotWithShape="0" blurRad="38100" dist="0" dir="60000">
              <a:srgbClr val="D64545">
                <a:alpha val="20000"/>
              </a:srgbClr>
            </a:outerShdw>
          </a:effectLst>
        </p:spPr>
        <p:txBody>
          <a:bodyPr lIns="45719" rIns="45719"/>
          <a:lstStyle/>
          <a:p>
            <a:pPr/>
          </a:p>
        </p:txBody>
      </p:sp>
      <p:sp>
        <p:nvSpPr>
          <p:cNvPr id="235" name="Shape 31"/>
          <p:cNvSpPr/>
          <p:nvPr/>
        </p:nvSpPr>
        <p:spPr>
          <a:xfrm>
            <a:off x="4586733" y="3673425"/>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236" name="Text 32"/>
          <p:cNvSpPr txBox="1"/>
          <p:nvPr/>
        </p:nvSpPr>
        <p:spPr>
          <a:xfrm>
            <a:off x="4681306" y="3712145"/>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237" name="Shape 33"/>
          <p:cNvSpPr/>
          <p:nvPr/>
        </p:nvSpPr>
        <p:spPr>
          <a:xfrm>
            <a:off x="4586733" y="4136981"/>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238" name="Text 34"/>
          <p:cNvSpPr txBox="1"/>
          <p:nvPr/>
        </p:nvSpPr>
        <p:spPr>
          <a:xfrm>
            <a:off x="4681306" y="4175702"/>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242"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243" name="Shape 1"/>
          <p:cNvSpPr/>
          <p:nvPr/>
        </p:nvSpPr>
        <p:spPr>
          <a:xfrm>
            <a:off x="711192"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44" name="Shape 2"/>
          <p:cNvSpPr/>
          <p:nvPr/>
        </p:nvSpPr>
        <p:spPr>
          <a:xfrm>
            <a:off x="1117534"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45" name="Shape 3"/>
          <p:cNvSpPr/>
          <p:nvPr/>
        </p:nvSpPr>
        <p:spPr>
          <a:xfrm>
            <a:off x="1523875"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46" name="Shape 4"/>
          <p:cNvSpPr/>
          <p:nvPr/>
        </p:nvSpPr>
        <p:spPr>
          <a:xfrm>
            <a:off x="1930218" y="1371600"/>
            <a:ext cx="355576" cy="38075"/>
          </a:xfrm>
          <a:prstGeom prst="roundRect">
            <a:avLst>
              <a:gd name="adj" fmla="val 50000"/>
            </a:avLst>
          </a:prstGeom>
          <a:solidFill>
            <a:srgbClr val="3358D4"/>
          </a:solidFill>
          <a:ln w="12700">
            <a:miter lim="400000"/>
          </a:ln>
        </p:spPr>
        <p:txBody>
          <a:bodyPr lIns="45719" rIns="45719"/>
          <a:lstStyle/>
          <a:p>
            <a:pPr/>
          </a:p>
        </p:txBody>
      </p:sp>
      <p:sp>
        <p:nvSpPr>
          <p:cNvPr id="247" name="Shape 5"/>
          <p:cNvSpPr/>
          <p:nvPr/>
        </p:nvSpPr>
        <p:spPr>
          <a:xfrm>
            <a:off x="2336560" y="1371600"/>
            <a:ext cx="355576" cy="38075"/>
          </a:xfrm>
          <a:prstGeom prst="roundRect">
            <a:avLst>
              <a:gd name="adj" fmla="val 50000"/>
            </a:avLst>
          </a:prstGeom>
          <a:solidFill>
            <a:srgbClr val="0E1116">
              <a:alpha val="12000"/>
            </a:srgbClr>
          </a:solidFill>
          <a:ln w="12700">
            <a:miter lim="400000"/>
          </a:ln>
        </p:spPr>
        <p:txBody>
          <a:bodyPr lIns="45719" rIns="45719"/>
          <a:lstStyle/>
          <a:p>
            <a:pPr/>
          </a:p>
        </p:txBody>
      </p:sp>
      <p:sp>
        <p:nvSpPr>
          <p:cNvPr id="248" name="Shape 6"/>
          <p:cNvSpPr/>
          <p:nvPr/>
        </p:nvSpPr>
        <p:spPr>
          <a:xfrm>
            <a:off x="2742901" y="1371600"/>
            <a:ext cx="355576" cy="38075"/>
          </a:xfrm>
          <a:prstGeom prst="roundRect">
            <a:avLst>
              <a:gd name="adj" fmla="val 50000"/>
            </a:avLst>
          </a:prstGeom>
          <a:solidFill>
            <a:srgbClr val="0E1116">
              <a:alpha val="12000"/>
            </a:srgbClr>
          </a:solidFill>
          <a:ln w="12700">
            <a:miter lim="400000"/>
          </a:ln>
        </p:spPr>
        <p:txBody>
          <a:bodyPr lIns="45719" rIns="45719"/>
          <a:lstStyle/>
          <a:p>
            <a:pPr/>
          </a:p>
        </p:txBody>
      </p:sp>
      <p:sp>
        <p:nvSpPr>
          <p:cNvPr id="249" name="Shape 7"/>
          <p:cNvSpPr/>
          <p:nvPr/>
        </p:nvSpPr>
        <p:spPr>
          <a:xfrm>
            <a:off x="3149244" y="1371600"/>
            <a:ext cx="355576" cy="38075"/>
          </a:xfrm>
          <a:prstGeom prst="roundRect">
            <a:avLst>
              <a:gd name="adj" fmla="val 50000"/>
            </a:avLst>
          </a:prstGeom>
          <a:solidFill>
            <a:srgbClr val="0E1116">
              <a:alpha val="12000"/>
            </a:srgbClr>
          </a:solidFill>
          <a:ln w="12700">
            <a:miter lim="400000"/>
          </a:ln>
        </p:spPr>
        <p:txBody>
          <a:bodyPr lIns="45719" rIns="45719"/>
          <a:lstStyle/>
          <a:p>
            <a:pPr/>
          </a:p>
        </p:txBody>
      </p:sp>
      <p:sp>
        <p:nvSpPr>
          <p:cNvPr id="250" name="Text 8"/>
          <p:cNvSpPr txBox="1"/>
          <p:nvPr/>
        </p:nvSpPr>
        <p:spPr>
          <a:xfrm>
            <a:off x="3631786" y="1282700"/>
            <a:ext cx="469909" cy="22094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4 / 7</a:t>
            </a:r>
          </a:p>
        </p:txBody>
      </p:sp>
      <p:sp>
        <p:nvSpPr>
          <p:cNvPr id="251" name="Text 9"/>
          <p:cNvSpPr txBox="1"/>
          <p:nvPr/>
        </p:nvSpPr>
        <p:spPr>
          <a:xfrm>
            <a:off x="711192" y="1814627"/>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4</a:t>
            </a:r>
          </a:p>
        </p:txBody>
      </p:sp>
      <p:sp>
        <p:nvSpPr>
          <p:cNvPr id="252" name="Shape 10"/>
          <p:cNvSpPr/>
          <p:nvPr/>
        </p:nvSpPr>
        <p:spPr>
          <a:xfrm>
            <a:off x="1709415" y="1776552"/>
            <a:ext cx="797182" cy="271695"/>
          </a:xfrm>
          <a:prstGeom prst="roundRect">
            <a:avLst>
              <a:gd name="adj" fmla="val 50000"/>
            </a:avLst>
          </a:prstGeom>
          <a:solidFill>
            <a:srgbClr val="0E1116"/>
          </a:solidFill>
          <a:ln w="12700">
            <a:miter lim="400000"/>
          </a:ln>
        </p:spPr>
        <p:txBody>
          <a:bodyPr lIns="45719" rIns="45719"/>
          <a:lstStyle/>
          <a:p>
            <a:pPr/>
          </a:p>
        </p:txBody>
      </p:sp>
      <p:sp>
        <p:nvSpPr>
          <p:cNvPr id="253" name="Text 11"/>
          <p:cNvSpPr txBox="1"/>
          <p:nvPr/>
        </p:nvSpPr>
        <p:spPr>
          <a:xfrm>
            <a:off x="1823715" y="1814652"/>
            <a:ext cx="888927"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254" name="Text 12"/>
          <p:cNvSpPr txBox="1"/>
          <p:nvPr/>
        </p:nvSpPr>
        <p:spPr>
          <a:xfrm>
            <a:off x="711191" y="2226012"/>
            <a:ext cx="3531872"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A pattern gets flagged</a:t>
            </a:r>
          </a:p>
        </p:txBody>
      </p:sp>
      <p:sp>
        <p:nvSpPr>
          <p:cNvPr id="255" name="Text 13"/>
          <p:cNvSpPr txBox="1"/>
          <p:nvPr/>
        </p:nvSpPr>
        <p:spPr>
          <a:xfrm>
            <a:off x="711191" y="3177189"/>
            <a:ext cx="3531872" cy="50421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midterm report: 58 papers, 5 TAs, a TA grade and an AI grade on every paper.</a:t>
            </a:r>
          </a:p>
        </p:txBody>
      </p:sp>
      <p:sp>
        <p:nvSpPr>
          <p:cNvPr id="256" name="Shape 14"/>
          <p:cNvSpPr/>
          <p:nvPr/>
        </p:nvSpPr>
        <p:spPr>
          <a:xfrm>
            <a:off x="711192" y="3833769"/>
            <a:ext cx="254001" cy="254001"/>
          </a:xfrm>
          <a:prstGeom prst="roundRect">
            <a:avLst>
              <a:gd name="adj" fmla="val 50000"/>
            </a:avLst>
          </a:prstGeom>
          <a:solidFill>
            <a:srgbClr val="0E1116"/>
          </a:solidFill>
          <a:ln w="12700">
            <a:miter lim="400000"/>
          </a:ln>
        </p:spPr>
        <p:txBody>
          <a:bodyPr lIns="45719" rIns="45719"/>
          <a:lstStyle/>
          <a:p>
            <a:pPr/>
          </a:p>
        </p:txBody>
      </p:sp>
      <p:sp>
        <p:nvSpPr>
          <p:cNvPr id="257" name="Text 15"/>
          <p:cNvSpPr txBox="1"/>
          <p:nvPr/>
        </p:nvSpPr>
        <p:spPr>
          <a:xfrm>
            <a:off x="800075" y="3871888"/>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258" name="Text 16"/>
          <p:cNvSpPr txBox="1"/>
          <p:nvPr/>
        </p:nvSpPr>
        <p:spPr>
          <a:xfrm>
            <a:off x="1079459" y="3833769"/>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Maria gives papers 1.4 points less than the AI on average, almost all of it on Q2.</a:t>
            </a:r>
          </a:p>
        </p:txBody>
      </p:sp>
      <p:sp>
        <p:nvSpPr>
          <p:cNvPr id="259" name="Shape 17"/>
          <p:cNvSpPr/>
          <p:nvPr/>
        </p:nvSpPr>
        <p:spPr>
          <a:xfrm>
            <a:off x="711192" y="4416430"/>
            <a:ext cx="254001" cy="254001"/>
          </a:xfrm>
          <a:prstGeom prst="roundRect">
            <a:avLst>
              <a:gd name="adj" fmla="val 50000"/>
            </a:avLst>
          </a:prstGeom>
          <a:solidFill>
            <a:srgbClr val="0E1116"/>
          </a:solidFill>
          <a:ln w="12700">
            <a:miter lim="400000"/>
          </a:ln>
        </p:spPr>
        <p:txBody>
          <a:bodyPr lIns="45719" rIns="45719"/>
          <a:lstStyle/>
          <a:p>
            <a:pPr/>
          </a:p>
        </p:txBody>
      </p:sp>
      <p:sp>
        <p:nvSpPr>
          <p:cNvPr id="260" name="Text 18"/>
          <p:cNvSpPr txBox="1"/>
          <p:nvPr/>
        </p:nvSpPr>
        <p:spPr>
          <a:xfrm>
            <a:off x="800075" y="4454550"/>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261" name="Text 19"/>
          <p:cNvSpPr txBox="1"/>
          <p:nvPr/>
        </p:nvSpPr>
        <p:spPr>
          <a:xfrm>
            <a:off x="1079459" y="4416430"/>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1 of 5 TAs flagged. The other four stay within the threshold.</a:t>
            </a:r>
          </a:p>
        </p:txBody>
      </p:sp>
      <p:sp>
        <p:nvSpPr>
          <p:cNvPr id="262" name="Shape 20"/>
          <p:cNvSpPr/>
          <p:nvPr/>
        </p:nvSpPr>
        <p:spPr>
          <a:xfrm>
            <a:off x="711192" y="4999092"/>
            <a:ext cx="254001" cy="254001"/>
          </a:xfrm>
          <a:prstGeom prst="roundRect">
            <a:avLst>
              <a:gd name="adj" fmla="val 50000"/>
            </a:avLst>
          </a:prstGeom>
          <a:solidFill>
            <a:srgbClr val="0E1116"/>
          </a:solidFill>
          <a:ln w="12700">
            <a:miter lim="400000"/>
          </a:ln>
        </p:spPr>
        <p:txBody>
          <a:bodyPr lIns="45719" rIns="45719"/>
          <a:lstStyle/>
          <a:p>
            <a:pPr/>
          </a:p>
        </p:txBody>
      </p:sp>
      <p:sp>
        <p:nvSpPr>
          <p:cNvPr id="263" name="Text 21"/>
          <p:cNvSpPr txBox="1"/>
          <p:nvPr/>
        </p:nvSpPr>
        <p:spPr>
          <a:xfrm>
            <a:off x="800075" y="5037211"/>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3</a:t>
            </a:r>
          </a:p>
        </p:txBody>
      </p:sp>
      <p:sp>
        <p:nvSpPr>
          <p:cNvPr id="264" name="Text 22"/>
          <p:cNvSpPr txBox="1"/>
          <p:nvPr/>
        </p:nvSpPr>
        <p:spPr>
          <a:xfrm>
            <a:off x="1079459" y="4999092"/>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Q2's threshold is ±0.45, 15% of its 3 points. Maria is at −1.04.</a:t>
            </a:r>
          </a:p>
        </p:txBody>
      </p:sp>
      <p:sp>
        <p:nvSpPr>
          <p:cNvPr id="265" name="Shape 23"/>
          <p:cNvSpPr/>
          <p:nvPr/>
        </p:nvSpPr>
        <p:spPr>
          <a:xfrm>
            <a:off x="4498942" y="893247"/>
            <a:ext cx="6978651" cy="5071461"/>
          </a:xfrm>
          <a:prstGeom prst="roundRect">
            <a:avLst>
              <a:gd name="adj" fmla="val 3193"/>
            </a:avLst>
          </a:prstGeom>
          <a:solidFill>
            <a:srgbClr val="0E1116">
              <a:alpha val="4000"/>
            </a:srgbClr>
          </a:solidFill>
          <a:ln w="6350">
            <a:solidFill>
              <a:srgbClr val="0E1116">
                <a:alpha val="8000"/>
              </a:srgbClr>
            </a:solidFill>
          </a:ln>
        </p:spPr>
        <p:txBody>
          <a:bodyPr lIns="45719" rIns="45719"/>
          <a:lstStyle/>
          <a:p>
            <a:pPr/>
          </a:p>
        </p:txBody>
      </p:sp>
      <p:pic>
        <p:nvPicPr>
          <p:cNvPr id="266" name="Image 0" descr="Image 0"/>
          <p:cNvPicPr>
            <a:picLocks noChangeAspect="1"/>
          </p:cNvPicPr>
          <p:nvPr/>
        </p:nvPicPr>
        <p:blipFill>
          <a:blip r:embed="rId3">
            <a:extLst/>
          </a:blip>
          <a:srcRect l="0" t="17" r="0" b="16"/>
          <a:stretch>
            <a:fillRect/>
          </a:stretch>
        </p:blipFill>
        <p:spPr>
          <a:xfrm>
            <a:off x="4551824" y="946131"/>
            <a:ext cx="6870691" cy="4965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23"/>
                  <a:pt x="0" y="497"/>
                </a:cubicBezTo>
                <a:lnTo>
                  <a:pt x="0" y="21103"/>
                </a:lnTo>
                <a:cubicBezTo>
                  <a:pt x="0" y="21377"/>
                  <a:pt x="161" y="21600"/>
                  <a:pt x="359" y="21600"/>
                </a:cubicBezTo>
                <a:lnTo>
                  <a:pt x="21241" y="21600"/>
                </a:lnTo>
                <a:cubicBezTo>
                  <a:pt x="21439" y="21600"/>
                  <a:pt x="21600" y="21377"/>
                  <a:pt x="21600" y="21103"/>
                </a:cubicBezTo>
                <a:lnTo>
                  <a:pt x="21600" y="497"/>
                </a:lnTo>
                <a:cubicBezTo>
                  <a:pt x="21600" y="223"/>
                  <a:pt x="21439" y="0"/>
                  <a:pt x="21241" y="0"/>
                </a:cubicBezTo>
                <a:lnTo>
                  <a:pt x="359" y="0"/>
                </a:lnTo>
                <a:close/>
              </a:path>
            </a:pathLst>
          </a:custGeom>
          <a:ln w="12700">
            <a:miter lim="400000"/>
          </a:ln>
        </p:spPr>
      </p:pic>
      <p:sp>
        <p:nvSpPr>
          <p:cNvPr id="267" name="Shape 24"/>
          <p:cNvSpPr/>
          <p:nvPr/>
        </p:nvSpPr>
        <p:spPr>
          <a:xfrm>
            <a:off x="7104525" y="5613350"/>
            <a:ext cx="641351" cy="304793"/>
          </a:xfrm>
          <a:prstGeom prst="roundRect">
            <a:avLst>
              <a:gd name="adj" fmla="val 25001"/>
            </a:avLst>
          </a:prstGeom>
          <a:ln w="25400">
            <a:solidFill>
              <a:srgbClr val="D64545"/>
            </a:solidFill>
          </a:ln>
          <a:effectLst>
            <a:outerShdw sx="100000" sy="100000" kx="0" ky="0" algn="b" rotWithShape="0" blurRad="38100" dist="0" dir="60000">
              <a:srgbClr val="D64545">
                <a:alpha val="20000"/>
              </a:srgbClr>
            </a:outerShdw>
          </a:effectLst>
        </p:spPr>
        <p:txBody>
          <a:bodyPr lIns="45719" rIns="45719"/>
          <a:lstStyle/>
          <a:p>
            <a:pPr/>
          </a:p>
        </p:txBody>
      </p:sp>
      <p:sp>
        <p:nvSpPr>
          <p:cNvPr id="268" name="Shape 25"/>
          <p:cNvSpPr/>
          <p:nvPr/>
        </p:nvSpPr>
        <p:spPr>
          <a:xfrm>
            <a:off x="4624849" y="19081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269" name="Text 26"/>
          <p:cNvSpPr txBox="1"/>
          <p:nvPr/>
        </p:nvSpPr>
        <p:spPr>
          <a:xfrm>
            <a:off x="4719422" y="194687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270" name="Shape 27"/>
          <p:cNvSpPr/>
          <p:nvPr/>
        </p:nvSpPr>
        <p:spPr>
          <a:xfrm>
            <a:off x="10587483" y="2841600"/>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271" name="Text 28"/>
          <p:cNvSpPr txBox="1"/>
          <p:nvPr/>
        </p:nvSpPr>
        <p:spPr>
          <a:xfrm>
            <a:off x="10682055" y="2880319"/>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
        <p:nvSpPr>
          <p:cNvPr id="272" name="Shape 29"/>
          <p:cNvSpPr/>
          <p:nvPr/>
        </p:nvSpPr>
        <p:spPr>
          <a:xfrm>
            <a:off x="6891791" y="5629231"/>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273" name="Text 30"/>
          <p:cNvSpPr txBox="1"/>
          <p:nvPr/>
        </p:nvSpPr>
        <p:spPr>
          <a:xfrm>
            <a:off x="6986364" y="5667952"/>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3</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277"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278" name="Shape 1"/>
          <p:cNvSpPr/>
          <p:nvPr/>
        </p:nvSpPr>
        <p:spPr>
          <a:xfrm>
            <a:off x="711192"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79" name="Shape 2"/>
          <p:cNvSpPr/>
          <p:nvPr/>
        </p:nvSpPr>
        <p:spPr>
          <a:xfrm>
            <a:off x="1117534"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80" name="Shape 3"/>
          <p:cNvSpPr/>
          <p:nvPr/>
        </p:nvSpPr>
        <p:spPr>
          <a:xfrm>
            <a:off x="1523875"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81" name="Shape 4"/>
          <p:cNvSpPr/>
          <p:nvPr/>
        </p:nvSpPr>
        <p:spPr>
          <a:xfrm>
            <a:off x="1930218"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282" name="Shape 5"/>
          <p:cNvSpPr/>
          <p:nvPr/>
        </p:nvSpPr>
        <p:spPr>
          <a:xfrm>
            <a:off x="2336560" y="1371600"/>
            <a:ext cx="355576" cy="38075"/>
          </a:xfrm>
          <a:prstGeom prst="roundRect">
            <a:avLst>
              <a:gd name="adj" fmla="val 50000"/>
            </a:avLst>
          </a:prstGeom>
          <a:solidFill>
            <a:srgbClr val="3358D4"/>
          </a:solidFill>
          <a:ln w="12700">
            <a:miter lim="400000"/>
          </a:ln>
        </p:spPr>
        <p:txBody>
          <a:bodyPr lIns="45719" rIns="45719"/>
          <a:lstStyle/>
          <a:p>
            <a:pPr/>
          </a:p>
        </p:txBody>
      </p:sp>
      <p:sp>
        <p:nvSpPr>
          <p:cNvPr id="283" name="Shape 6"/>
          <p:cNvSpPr/>
          <p:nvPr/>
        </p:nvSpPr>
        <p:spPr>
          <a:xfrm>
            <a:off x="2742901" y="1371600"/>
            <a:ext cx="355576" cy="38075"/>
          </a:xfrm>
          <a:prstGeom prst="roundRect">
            <a:avLst>
              <a:gd name="adj" fmla="val 50000"/>
            </a:avLst>
          </a:prstGeom>
          <a:solidFill>
            <a:srgbClr val="0E1116">
              <a:alpha val="12000"/>
            </a:srgbClr>
          </a:solidFill>
          <a:ln w="12700">
            <a:miter lim="400000"/>
          </a:ln>
        </p:spPr>
        <p:txBody>
          <a:bodyPr lIns="45719" rIns="45719"/>
          <a:lstStyle/>
          <a:p>
            <a:pPr/>
          </a:p>
        </p:txBody>
      </p:sp>
      <p:sp>
        <p:nvSpPr>
          <p:cNvPr id="284" name="Shape 7"/>
          <p:cNvSpPr/>
          <p:nvPr/>
        </p:nvSpPr>
        <p:spPr>
          <a:xfrm>
            <a:off x="3149244" y="1371600"/>
            <a:ext cx="355576" cy="38075"/>
          </a:xfrm>
          <a:prstGeom prst="roundRect">
            <a:avLst>
              <a:gd name="adj" fmla="val 50000"/>
            </a:avLst>
          </a:prstGeom>
          <a:solidFill>
            <a:srgbClr val="0E1116">
              <a:alpha val="12000"/>
            </a:srgbClr>
          </a:solidFill>
          <a:ln w="12700">
            <a:miter lim="400000"/>
          </a:ln>
        </p:spPr>
        <p:txBody>
          <a:bodyPr lIns="45719" rIns="45719"/>
          <a:lstStyle/>
          <a:p>
            <a:pPr/>
          </a:p>
        </p:txBody>
      </p:sp>
      <p:sp>
        <p:nvSpPr>
          <p:cNvPr id="285" name="Text 8"/>
          <p:cNvSpPr txBox="1"/>
          <p:nvPr/>
        </p:nvSpPr>
        <p:spPr>
          <a:xfrm>
            <a:off x="3631786" y="1286005"/>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5 / 7</a:t>
            </a:r>
          </a:p>
        </p:txBody>
      </p:sp>
      <p:sp>
        <p:nvSpPr>
          <p:cNvPr id="286" name="Text 9"/>
          <p:cNvSpPr txBox="1"/>
          <p:nvPr/>
        </p:nvSpPr>
        <p:spPr>
          <a:xfrm>
            <a:off x="711192" y="1773590"/>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5</a:t>
            </a:r>
          </a:p>
        </p:txBody>
      </p:sp>
      <p:sp>
        <p:nvSpPr>
          <p:cNvPr id="287" name="Shape 10"/>
          <p:cNvSpPr/>
          <p:nvPr/>
        </p:nvSpPr>
        <p:spPr>
          <a:xfrm>
            <a:off x="1709415" y="1735515"/>
            <a:ext cx="797182" cy="271695"/>
          </a:xfrm>
          <a:prstGeom prst="roundRect">
            <a:avLst>
              <a:gd name="adj" fmla="val 50000"/>
            </a:avLst>
          </a:prstGeom>
          <a:solidFill>
            <a:srgbClr val="0E1116"/>
          </a:solidFill>
          <a:ln w="12700">
            <a:miter lim="400000"/>
          </a:ln>
        </p:spPr>
        <p:txBody>
          <a:bodyPr lIns="45719" rIns="45719"/>
          <a:lstStyle/>
          <a:p>
            <a:pPr/>
          </a:p>
        </p:txBody>
      </p:sp>
      <p:sp>
        <p:nvSpPr>
          <p:cNvPr id="288" name="Text 11"/>
          <p:cNvSpPr txBox="1"/>
          <p:nvPr/>
        </p:nvSpPr>
        <p:spPr>
          <a:xfrm>
            <a:off x="1823715" y="1773615"/>
            <a:ext cx="888927"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289" name="Text 12"/>
          <p:cNvSpPr txBox="1"/>
          <p:nvPr/>
        </p:nvSpPr>
        <p:spPr>
          <a:xfrm>
            <a:off x="711191" y="2184977"/>
            <a:ext cx="3531872" cy="41210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…and shows why</a:t>
            </a:r>
          </a:p>
        </p:txBody>
      </p:sp>
      <p:sp>
        <p:nvSpPr>
          <p:cNvPr id="290" name="Text 13"/>
          <p:cNvSpPr txBox="1"/>
          <p:nvPr/>
        </p:nvSpPr>
        <p:spPr>
          <a:xfrm>
            <a:off x="711191" y="2749450"/>
            <a:ext cx="3531872" cy="7436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Opening Maria's flag lists the papers behind it, largest gap first. Remember the answer from the start?</a:t>
            </a:r>
          </a:p>
        </p:txBody>
      </p:sp>
      <p:sp>
        <p:nvSpPr>
          <p:cNvPr id="291" name="Shape 14"/>
          <p:cNvSpPr/>
          <p:nvPr/>
        </p:nvSpPr>
        <p:spPr>
          <a:xfrm>
            <a:off x="711192" y="3645432"/>
            <a:ext cx="254001" cy="254001"/>
          </a:xfrm>
          <a:prstGeom prst="roundRect">
            <a:avLst>
              <a:gd name="adj" fmla="val 50000"/>
            </a:avLst>
          </a:prstGeom>
          <a:solidFill>
            <a:srgbClr val="0E1116"/>
          </a:solidFill>
          <a:ln w="12700">
            <a:miter lim="400000"/>
          </a:ln>
        </p:spPr>
        <p:txBody>
          <a:bodyPr lIns="45719" rIns="45719"/>
          <a:lstStyle/>
          <a:p>
            <a:pPr/>
          </a:p>
        </p:txBody>
      </p:sp>
      <p:sp>
        <p:nvSpPr>
          <p:cNvPr id="292" name="Text 15"/>
          <p:cNvSpPr txBox="1"/>
          <p:nvPr/>
        </p:nvSpPr>
        <p:spPr>
          <a:xfrm>
            <a:off x="800075" y="3683551"/>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293" name="Text 16"/>
          <p:cNvSpPr txBox="1"/>
          <p:nvPr/>
        </p:nvSpPr>
        <p:spPr>
          <a:xfrm>
            <a:off x="1079459" y="3645432"/>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csd5108's answer to Q2, as transcribed from the scan.</a:t>
            </a:r>
          </a:p>
        </p:txBody>
      </p:sp>
      <p:sp>
        <p:nvSpPr>
          <p:cNvPr id="294" name="Shape 17"/>
          <p:cNvSpPr/>
          <p:nvPr/>
        </p:nvSpPr>
        <p:spPr>
          <a:xfrm>
            <a:off x="711192" y="4228095"/>
            <a:ext cx="254001" cy="254001"/>
          </a:xfrm>
          <a:prstGeom prst="roundRect">
            <a:avLst>
              <a:gd name="adj" fmla="val 50000"/>
            </a:avLst>
          </a:prstGeom>
          <a:solidFill>
            <a:srgbClr val="0E1116"/>
          </a:solidFill>
          <a:ln w="12700">
            <a:miter lim="400000"/>
          </a:ln>
        </p:spPr>
        <p:txBody>
          <a:bodyPr lIns="45719" rIns="45719"/>
          <a:lstStyle/>
          <a:p>
            <a:pPr/>
          </a:p>
        </p:txBody>
      </p:sp>
      <p:sp>
        <p:nvSpPr>
          <p:cNvPr id="295" name="Text 18"/>
          <p:cNvSpPr txBox="1"/>
          <p:nvPr/>
        </p:nvSpPr>
        <p:spPr>
          <a:xfrm>
            <a:off x="800075" y="4266214"/>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296" name="Text 19"/>
          <p:cNvSpPr txBox="1"/>
          <p:nvPr/>
        </p:nvSpPr>
        <p:spPr>
          <a:xfrm>
            <a:off x="1079459" y="4228095"/>
            <a:ext cx="3152556" cy="25323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Maria gave 1 of 3. The AI gave 2.5.</a:t>
            </a:r>
          </a:p>
        </p:txBody>
      </p:sp>
      <p:sp>
        <p:nvSpPr>
          <p:cNvPr id="297" name="Shape 20"/>
          <p:cNvSpPr/>
          <p:nvPr/>
        </p:nvSpPr>
        <p:spPr>
          <a:xfrm>
            <a:off x="711192" y="4609095"/>
            <a:ext cx="254001" cy="254001"/>
          </a:xfrm>
          <a:prstGeom prst="roundRect">
            <a:avLst>
              <a:gd name="adj" fmla="val 50000"/>
            </a:avLst>
          </a:prstGeom>
          <a:solidFill>
            <a:srgbClr val="0E1116"/>
          </a:solidFill>
          <a:ln w="12700">
            <a:miter lim="400000"/>
          </a:ln>
        </p:spPr>
        <p:txBody>
          <a:bodyPr lIns="45719" rIns="45719"/>
          <a:lstStyle/>
          <a:p>
            <a:pPr/>
          </a:p>
        </p:txBody>
      </p:sp>
      <p:sp>
        <p:nvSpPr>
          <p:cNvPr id="298" name="Text 21"/>
          <p:cNvSpPr txBox="1"/>
          <p:nvPr/>
        </p:nvSpPr>
        <p:spPr>
          <a:xfrm>
            <a:off x="800075" y="4647214"/>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3</a:t>
            </a:r>
          </a:p>
        </p:txBody>
      </p:sp>
      <p:sp>
        <p:nvSpPr>
          <p:cNvPr id="299" name="Text 22"/>
          <p:cNvSpPr txBox="1"/>
          <p:nvPr/>
        </p:nvSpPr>
        <p:spPr>
          <a:xfrm>
            <a:off x="1079459" y="4609095"/>
            <a:ext cx="3152556" cy="70889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AI's reasoning. The instructor reads it, then decides: talk to Maria or reopen the paper.</a:t>
            </a:r>
          </a:p>
        </p:txBody>
      </p:sp>
      <p:sp>
        <p:nvSpPr>
          <p:cNvPr id="300" name="Shape 23"/>
          <p:cNvSpPr/>
          <p:nvPr/>
        </p:nvSpPr>
        <p:spPr>
          <a:xfrm>
            <a:off x="4498942" y="944054"/>
            <a:ext cx="6978651" cy="4969842"/>
          </a:xfrm>
          <a:prstGeom prst="roundRect">
            <a:avLst>
              <a:gd name="adj" fmla="val 3258"/>
            </a:avLst>
          </a:prstGeom>
          <a:solidFill>
            <a:srgbClr val="0E1116">
              <a:alpha val="4000"/>
            </a:srgbClr>
          </a:solidFill>
          <a:ln w="6350">
            <a:solidFill>
              <a:srgbClr val="0E1116">
                <a:alpha val="8000"/>
              </a:srgbClr>
            </a:solidFill>
          </a:ln>
        </p:spPr>
        <p:txBody>
          <a:bodyPr lIns="45719" rIns="45719"/>
          <a:lstStyle/>
          <a:p>
            <a:pPr/>
          </a:p>
        </p:txBody>
      </p:sp>
      <p:pic>
        <p:nvPicPr>
          <p:cNvPr id="301" name="Image 0" descr="Image 0"/>
          <p:cNvPicPr>
            <a:picLocks noChangeAspect="1"/>
          </p:cNvPicPr>
          <p:nvPr/>
        </p:nvPicPr>
        <p:blipFill>
          <a:blip r:embed="rId3">
            <a:extLst/>
          </a:blip>
          <a:srcRect l="37" t="0" r="36" b="0"/>
          <a:stretch>
            <a:fillRect/>
          </a:stretch>
        </p:blipFill>
        <p:spPr>
          <a:xfrm>
            <a:off x="4551824" y="996938"/>
            <a:ext cx="6870701" cy="4864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27"/>
                  <a:pt x="0" y="508"/>
                </a:cubicBezTo>
                <a:lnTo>
                  <a:pt x="0" y="21092"/>
                </a:lnTo>
                <a:cubicBezTo>
                  <a:pt x="0" y="21373"/>
                  <a:pt x="161" y="21600"/>
                  <a:pt x="359" y="21600"/>
                </a:cubicBezTo>
                <a:lnTo>
                  <a:pt x="21241" y="21600"/>
                </a:lnTo>
                <a:cubicBezTo>
                  <a:pt x="21439" y="21600"/>
                  <a:pt x="21600" y="21373"/>
                  <a:pt x="21600" y="21092"/>
                </a:cubicBezTo>
                <a:lnTo>
                  <a:pt x="21600" y="508"/>
                </a:lnTo>
                <a:cubicBezTo>
                  <a:pt x="21600" y="227"/>
                  <a:pt x="21439" y="0"/>
                  <a:pt x="21241" y="0"/>
                </a:cubicBezTo>
                <a:lnTo>
                  <a:pt x="359" y="0"/>
                </a:lnTo>
                <a:close/>
              </a:path>
            </a:pathLst>
          </a:custGeom>
          <a:ln w="12700">
            <a:miter lim="400000"/>
          </a:ln>
        </p:spPr>
      </p:pic>
      <p:sp>
        <p:nvSpPr>
          <p:cNvPr id="302" name="Shape 24"/>
          <p:cNvSpPr/>
          <p:nvPr/>
        </p:nvSpPr>
        <p:spPr>
          <a:xfrm>
            <a:off x="4843908" y="2343137"/>
            <a:ext cx="3435351" cy="539734"/>
          </a:xfrm>
          <a:prstGeom prst="roundRect">
            <a:avLst>
              <a:gd name="adj" fmla="val 14118"/>
            </a:avLst>
          </a:prstGeom>
          <a:ln w="25400">
            <a:solidFill>
              <a:srgbClr val="D64545"/>
            </a:solidFill>
          </a:ln>
          <a:effectLst>
            <a:outerShdw sx="100000" sy="100000" kx="0" ky="0" algn="b" rotWithShape="0" blurRad="38100" dist="0" dir="60000">
              <a:srgbClr val="D64545">
                <a:alpha val="20000"/>
              </a:srgbClr>
            </a:outerShdw>
          </a:effectLst>
        </p:spPr>
        <p:txBody>
          <a:bodyPr lIns="45719" rIns="45719"/>
          <a:lstStyle/>
          <a:p>
            <a:pPr/>
          </a:p>
        </p:txBody>
      </p:sp>
      <p:sp>
        <p:nvSpPr>
          <p:cNvPr id="303" name="Shape 25"/>
          <p:cNvSpPr/>
          <p:nvPr/>
        </p:nvSpPr>
        <p:spPr>
          <a:xfrm>
            <a:off x="4586733" y="187640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04" name="Text 26"/>
          <p:cNvSpPr txBox="1"/>
          <p:nvPr/>
        </p:nvSpPr>
        <p:spPr>
          <a:xfrm>
            <a:off x="4681306" y="191512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305" name="Shape 27"/>
          <p:cNvSpPr/>
          <p:nvPr/>
        </p:nvSpPr>
        <p:spPr>
          <a:xfrm>
            <a:off x="4586733" y="24796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06" name="Text 28"/>
          <p:cNvSpPr txBox="1"/>
          <p:nvPr/>
        </p:nvSpPr>
        <p:spPr>
          <a:xfrm>
            <a:off x="4681306" y="251837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
        <p:nvSpPr>
          <p:cNvPr id="307" name="Shape 29"/>
          <p:cNvSpPr/>
          <p:nvPr/>
        </p:nvSpPr>
        <p:spPr>
          <a:xfrm>
            <a:off x="4586733" y="289240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08" name="Text 30"/>
          <p:cNvSpPr txBox="1"/>
          <p:nvPr/>
        </p:nvSpPr>
        <p:spPr>
          <a:xfrm>
            <a:off x="4681306" y="293112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3</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312"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313" name="Shape 1"/>
          <p:cNvSpPr/>
          <p:nvPr/>
        </p:nvSpPr>
        <p:spPr>
          <a:xfrm>
            <a:off x="711192" y="1373808"/>
            <a:ext cx="355576" cy="38076"/>
          </a:xfrm>
          <a:prstGeom prst="roundRect">
            <a:avLst>
              <a:gd name="adj" fmla="val 50000"/>
            </a:avLst>
          </a:prstGeom>
          <a:solidFill>
            <a:srgbClr val="0E1116"/>
          </a:solidFill>
          <a:ln w="12700">
            <a:miter lim="400000"/>
          </a:ln>
        </p:spPr>
        <p:txBody>
          <a:bodyPr lIns="45719" rIns="45719"/>
          <a:lstStyle/>
          <a:p>
            <a:pPr/>
          </a:p>
        </p:txBody>
      </p:sp>
      <p:sp>
        <p:nvSpPr>
          <p:cNvPr id="314" name="Shape 2"/>
          <p:cNvSpPr/>
          <p:nvPr/>
        </p:nvSpPr>
        <p:spPr>
          <a:xfrm>
            <a:off x="1117534" y="1373808"/>
            <a:ext cx="355576" cy="38076"/>
          </a:xfrm>
          <a:prstGeom prst="roundRect">
            <a:avLst>
              <a:gd name="adj" fmla="val 50000"/>
            </a:avLst>
          </a:prstGeom>
          <a:solidFill>
            <a:srgbClr val="0E1116"/>
          </a:solidFill>
          <a:ln w="12700">
            <a:miter lim="400000"/>
          </a:ln>
        </p:spPr>
        <p:txBody>
          <a:bodyPr lIns="45719" rIns="45719"/>
          <a:lstStyle/>
          <a:p>
            <a:pPr/>
          </a:p>
        </p:txBody>
      </p:sp>
      <p:sp>
        <p:nvSpPr>
          <p:cNvPr id="315" name="Shape 3"/>
          <p:cNvSpPr/>
          <p:nvPr/>
        </p:nvSpPr>
        <p:spPr>
          <a:xfrm>
            <a:off x="1523875" y="1373808"/>
            <a:ext cx="355576" cy="38076"/>
          </a:xfrm>
          <a:prstGeom prst="roundRect">
            <a:avLst>
              <a:gd name="adj" fmla="val 50000"/>
            </a:avLst>
          </a:prstGeom>
          <a:solidFill>
            <a:srgbClr val="0E1116"/>
          </a:solidFill>
          <a:ln w="12700">
            <a:miter lim="400000"/>
          </a:ln>
        </p:spPr>
        <p:txBody>
          <a:bodyPr lIns="45719" rIns="45719"/>
          <a:lstStyle/>
          <a:p>
            <a:pPr/>
          </a:p>
        </p:txBody>
      </p:sp>
      <p:sp>
        <p:nvSpPr>
          <p:cNvPr id="316" name="Shape 4"/>
          <p:cNvSpPr/>
          <p:nvPr/>
        </p:nvSpPr>
        <p:spPr>
          <a:xfrm>
            <a:off x="1930218" y="1373808"/>
            <a:ext cx="355576" cy="38076"/>
          </a:xfrm>
          <a:prstGeom prst="roundRect">
            <a:avLst>
              <a:gd name="adj" fmla="val 50000"/>
            </a:avLst>
          </a:prstGeom>
          <a:solidFill>
            <a:srgbClr val="0E1116"/>
          </a:solidFill>
          <a:ln w="12700">
            <a:miter lim="400000"/>
          </a:ln>
        </p:spPr>
        <p:txBody>
          <a:bodyPr lIns="45719" rIns="45719"/>
          <a:lstStyle/>
          <a:p>
            <a:pPr/>
          </a:p>
        </p:txBody>
      </p:sp>
      <p:sp>
        <p:nvSpPr>
          <p:cNvPr id="317" name="Shape 5"/>
          <p:cNvSpPr/>
          <p:nvPr/>
        </p:nvSpPr>
        <p:spPr>
          <a:xfrm>
            <a:off x="2336560" y="1373808"/>
            <a:ext cx="355576" cy="38076"/>
          </a:xfrm>
          <a:prstGeom prst="roundRect">
            <a:avLst>
              <a:gd name="adj" fmla="val 50000"/>
            </a:avLst>
          </a:prstGeom>
          <a:solidFill>
            <a:srgbClr val="0E1116"/>
          </a:solidFill>
          <a:ln w="12700">
            <a:miter lim="400000"/>
          </a:ln>
        </p:spPr>
        <p:txBody>
          <a:bodyPr lIns="45719" rIns="45719"/>
          <a:lstStyle/>
          <a:p>
            <a:pPr/>
          </a:p>
        </p:txBody>
      </p:sp>
      <p:sp>
        <p:nvSpPr>
          <p:cNvPr id="318" name="Shape 6"/>
          <p:cNvSpPr/>
          <p:nvPr/>
        </p:nvSpPr>
        <p:spPr>
          <a:xfrm>
            <a:off x="2742901" y="1373808"/>
            <a:ext cx="355576" cy="38076"/>
          </a:xfrm>
          <a:prstGeom prst="roundRect">
            <a:avLst>
              <a:gd name="adj" fmla="val 50000"/>
            </a:avLst>
          </a:prstGeom>
          <a:solidFill>
            <a:srgbClr val="3358D4"/>
          </a:solidFill>
          <a:ln w="12700">
            <a:miter lim="400000"/>
          </a:ln>
        </p:spPr>
        <p:txBody>
          <a:bodyPr lIns="45719" rIns="45719"/>
          <a:lstStyle/>
          <a:p>
            <a:pPr/>
          </a:p>
        </p:txBody>
      </p:sp>
      <p:sp>
        <p:nvSpPr>
          <p:cNvPr id="319" name="Shape 7"/>
          <p:cNvSpPr/>
          <p:nvPr/>
        </p:nvSpPr>
        <p:spPr>
          <a:xfrm>
            <a:off x="3149244" y="1373808"/>
            <a:ext cx="355576" cy="38076"/>
          </a:xfrm>
          <a:prstGeom prst="roundRect">
            <a:avLst>
              <a:gd name="adj" fmla="val 50000"/>
            </a:avLst>
          </a:prstGeom>
          <a:solidFill>
            <a:srgbClr val="0E1116">
              <a:alpha val="12000"/>
            </a:srgbClr>
          </a:solidFill>
          <a:ln w="12700">
            <a:miter lim="400000"/>
          </a:ln>
        </p:spPr>
        <p:txBody>
          <a:bodyPr lIns="45719" rIns="45719"/>
          <a:lstStyle/>
          <a:p>
            <a:pPr/>
          </a:p>
        </p:txBody>
      </p:sp>
      <p:sp>
        <p:nvSpPr>
          <p:cNvPr id="320" name="Text 8"/>
          <p:cNvSpPr txBox="1"/>
          <p:nvPr/>
        </p:nvSpPr>
        <p:spPr>
          <a:xfrm>
            <a:off x="3631786" y="1295090"/>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6 / 7</a:t>
            </a:r>
          </a:p>
        </p:txBody>
      </p:sp>
      <p:sp>
        <p:nvSpPr>
          <p:cNvPr id="321" name="Text 9"/>
          <p:cNvSpPr txBox="1"/>
          <p:nvPr/>
        </p:nvSpPr>
        <p:spPr>
          <a:xfrm>
            <a:off x="711192" y="1706476"/>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6</a:t>
            </a:r>
          </a:p>
        </p:txBody>
      </p:sp>
      <p:sp>
        <p:nvSpPr>
          <p:cNvPr id="322" name="Shape 10"/>
          <p:cNvSpPr/>
          <p:nvPr/>
        </p:nvSpPr>
        <p:spPr>
          <a:xfrm>
            <a:off x="1709415" y="1668399"/>
            <a:ext cx="797182" cy="271695"/>
          </a:xfrm>
          <a:prstGeom prst="roundRect">
            <a:avLst>
              <a:gd name="adj" fmla="val 50000"/>
            </a:avLst>
          </a:prstGeom>
          <a:solidFill>
            <a:srgbClr val="0E1116"/>
          </a:solidFill>
          <a:ln w="12700">
            <a:miter lim="400000"/>
          </a:ln>
        </p:spPr>
        <p:txBody>
          <a:bodyPr lIns="45719" rIns="45719"/>
          <a:lstStyle/>
          <a:p>
            <a:pPr/>
          </a:p>
        </p:txBody>
      </p:sp>
      <p:sp>
        <p:nvSpPr>
          <p:cNvPr id="323" name="Text 11"/>
          <p:cNvSpPr txBox="1"/>
          <p:nvPr/>
        </p:nvSpPr>
        <p:spPr>
          <a:xfrm>
            <a:off x="1823715" y="1706499"/>
            <a:ext cx="888927"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FFFFFF"/>
                </a:solidFill>
                <a:latin typeface="Geist Mono"/>
                <a:ea typeface="Geist Mono"/>
                <a:cs typeface="Geist Mono"/>
                <a:sym typeface="Geist Mono"/>
              </a:defRPr>
            </a:lvl1pPr>
          </a:lstStyle>
          <a:p>
            <a:pPr/>
            <a:r>
              <a:t>Instructor</a:t>
            </a:r>
          </a:p>
        </p:txBody>
      </p:sp>
      <p:sp>
        <p:nvSpPr>
          <p:cNvPr id="324" name="Text 12"/>
          <p:cNvSpPr txBox="1"/>
          <p:nvPr/>
        </p:nvSpPr>
        <p:spPr>
          <a:xfrm>
            <a:off x="711191" y="2117861"/>
            <a:ext cx="3531872"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The whole course, every exam</a:t>
            </a:r>
          </a:p>
        </p:txBody>
      </p:sp>
      <p:sp>
        <p:nvSpPr>
          <p:cNvPr id="325" name="Text 13"/>
          <p:cNvSpPr txBox="1"/>
          <p:nvPr/>
        </p:nvSpPr>
        <p:spPr>
          <a:xfrm>
            <a:off x="711191" y="3069040"/>
            <a:ext cx="3531872" cy="2648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Course stats for HY335: 3 exams, 167 papers.</a:t>
            </a:r>
          </a:p>
        </p:txBody>
      </p:sp>
      <p:sp>
        <p:nvSpPr>
          <p:cNvPr id="326" name="Shape 14"/>
          <p:cNvSpPr/>
          <p:nvPr/>
        </p:nvSpPr>
        <p:spPr>
          <a:xfrm>
            <a:off x="711192" y="3486212"/>
            <a:ext cx="254001" cy="254001"/>
          </a:xfrm>
          <a:prstGeom prst="roundRect">
            <a:avLst>
              <a:gd name="adj" fmla="val 50000"/>
            </a:avLst>
          </a:prstGeom>
          <a:solidFill>
            <a:srgbClr val="0E1116"/>
          </a:solidFill>
          <a:ln w="12700">
            <a:miter lim="400000"/>
          </a:ln>
        </p:spPr>
        <p:txBody>
          <a:bodyPr lIns="45719" rIns="45719"/>
          <a:lstStyle/>
          <a:p>
            <a:pPr/>
          </a:p>
        </p:txBody>
      </p:sp>
      <p:sp>
        <p:nvSpPr>
          <p:cNvPr id="327" name="Text 15"/>
          <p:cNvSpPr txBox="1"/>
          <p:nvPr/>
        </p:nvSpPr>
        <p:spPr>
          <a:xfrm>
            <a:off x="800075" y="3524331"/>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328" name="Text 16"/>
          <p:cNvSpPr txBox="1"/>
          <p:nvPr/>
        </p:nvSpPr>
        <p:spPr>
          <a:xfrm>
            <a:off x="1079459" y="3486212"/>
            <a:ext cx="3152556" cy="70889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Average gap per paper fell 0.62 → 0.52 → 0.47, −24%. Four of five TAs moved closer to the AI.</a:t>
            </a:r>
          </a:p>
        </p:txBody>
      </p:sp>
      <p:sp>
        <p:nvSpPr>
          <p:cNvPr id="329" name="Shape 17"/>
          <p:cNvSpPr/>
          <p:nvPr/>
        </p:nvSpPr>
        <p:spPr>
          <a:xfrm>
            <a:off x="711192" y="4296705"/>
            <a:ext cx="254001" cy="254001"/>
          </a:xfrm>
          <a:prstGeom prst="roundRect">
            <a:avLst>
              <a:gd name="adj" fmla="val 50000"/>
            </a:avLst>
          </a:prstGeom>
          <a:solidFill>
            <a:srgbClr val="0E1116"/>
          </a:solidFill>
          <a:ln w="12700">
            <a:miter lim="400000"/>
          </a:ln>
        </p:spPr>
        <p:txBody>
          <a:bodyPr lIns="45719" rIns="45719"/>
          <a:lstStyle/>
          <a:p>
            <a:pPr/>
          </a:p>
        </p:txBody>
      </p:sp>
      <p:sp>
        <p:nvSpPr>
          <p:cNvPr id="330" name="Text 18"/>
          <p:cNvSpPr txBox="1"/>
          <p:nvPr/>
        </p:nvSpPr>
        <p:spPr>
          <a:xfrm>
            <a:off x="800075" y="4334824"/>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331" name="Text 19"/>
          <p:cNvSpPr txBox="1"/>
          <p:nvPr/>
        </p:nvSpPr>
        <p:spPr>
          <a:xfrm>
            <a:off x="1079459" y="4296705"/>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4 papers where pass or fail depends on who graded.</a:t>
            </a:r>
          </a:p>
        </p:txBody>
      </p:sp>
      <p:sp>
        <p:nvSpPr>
          <p:cNvPr id="332" name="Shape 20"/>
          <p:cNvSpPr/>
          <p:nvPr/>
        </p:nvSpPr>
        <p:spPr>
          <a:xfrm>
            <a:off x="711192" y="4879366"/>
            <a:ext cx="254001" cy="254001"/>
          </a:xfrm>
          <a:prstGeom prst="roundRect">
            <a:avLst>
              <a:gd name="adj" fmla="val 50000"/>
            </a:avLst>
          </a:prstGeom>
          <a:solidFill>
            <a:srgbClr val="0E1116"/>
          </a:solidFill>
          <a:ln w="12700">
            <a:miter lim="400000"/>
          </a:ln>
        </p:spPr>
        <p:txBody>
          <a:bodyPr lIns="45719" rIns="45719"/>
          <a:lstStyle/>
          <a:p>
            <a:pPr/>
          </a:p>
        </p:txBody>
      </p:sp>
      <p:sp>
        <p:nvSpPr>
          <p:cNvPr id="333" name="Text 21"/>
          <p:cNvSpPr txBox="1"/>
          <p:nvPr/>
        </p:nvSpPr>
        <p:spPr>
          <a:xfrm>
            <a:off x="800075" y="4917485"/>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3</a:t>
            </a:r>
          </a:p>
        </p:txBody>
      </p:sp>
      <p:sp>
        <p:nvSpPr>
          <p:cNvPr id="334" name="Text 22"/>
          <p:cNvSpPr txBox="1"/>
          <p:nvPr/>
        </p:nvSpPr>
        <p:spPr>
          <a:xfrm>
            <a:off x="1079459" y="4879366"/>
            <a:ext cx="3152556" cy="70889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The TA leaderboard. The instructor chooses whether TAs see it, with or without names.</a:t>
            </a:r>
          </a:p>
        </p:txBody>
      </p:sp>
      <p:sp>
        <p:nvSpPr>
          <p:cNvPr id="335" name="Shape 23"/>
          <p:cNvSpPr/>
          <p:nvPr/>
        </p:nvSpPr>
        <p:spPr>
          <a:xfrm>
            <a:off x="4498942" y="612750"/>
            <a:ext cx="6343651" cy="4138018"/>
          </a:xfrm>
          <a:prstGeom prst="roundRect">
            <a:avLst>
              <a:gd name="adj" fmla="val 3913"/>
            </a:avLst>
          </a:prstGeom>
          <a:solidFill>
            <a:srgbClr val="0E1116">
              <a:alpha val="4000"/>
            </a:srgbClr>
          </a:solidFill>
          <a:ln w="6350">
            <a:solidFill>
              <a:srgbClr val="0E1116">
                <a:alpha val="8000"/>
              </a:srgbClr>
            </a:solidFill>
          </a:ln>
        </p:spPr>
        <p:txBody>
          <a:bodyPr lIns="45719" rIns="45719"/>
          <a:lstStyle/>
          <a:p>
            <a:pPr/>
          </a:p>
        </p:txBody>
      </p:sp>
      <p:pic>
        <p:nvPicPr>
          <p:cNvPr id="336" name="Image 0" descr="Image 0"/>
          <p:cNvPicPr>
            <a:picLocks noChangeAspect="1"/>
          </p:cNvPicPr>
          <p:nvPr/>
        </p:nvPicPr>
        <p:blipFill>
          <a:blip r:embed="rId3">
            <a:extLst/>
          </a:blip>
          <a:srcRect l="45" t="0" r="44" b="0"/>
          <a:stretch>
            <a:fillRect/>
          </a:stretch>
        </p:blipFill>
        <p:spPr>
          <a:xfrm>
            <a:off x="4551824" y="665633"/>
            <a:ext cx="6235701" cy="40322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96" y="0"/>
                </a:moveTo>
                <a:cubicBezTo>
                  <a:pt x="177" y="0"/>
                  <a:pt x="0" y="274"/>
                  <a:pt x="0" y="612"/>
                </a:cubicBezTo>
                <a:lnTo>
                  <a:pt x="0" y="20988"/>
                </a:lnTo>
                <a:cubicBezTo>
                  <a:pt x="0" y="21326"/>
                  <a:pt x="177" y="21600"/>
                  <a:pt x="396" y="21600"/>
                </a:cubicBezTo>
                <a:lnTo>
                  <a:pt x="21204" y="21600"/>
                </a:lnTo>
                <a:cubicBezTo>
                  <a:pt x="21423" y="21600"/>
                  <a:pt x="21600" y="21326"/>
                  <a:pt x="21600" y="20988"/>
                </a:cubicBezTo>
                <a:lnTo>
                  <a:pt x="21600" y="612"/>
                </a:lnTo>
                <a:cubicBezTo>
                  <a:pt x="21600" y="274"/>
                  <a:pt x="21423" y="0"/>
                  <a:pt x="21204" y="0"/>
                </a:cubicBezTo>
                <a:lnTo>
                  <a:pt x="396" y="0"/>
                </a:lnTo>
                <a:close/>
              </a:path>
            </a:pathLst>
          </a:custGeom>
          <a:ln w="12700">
            <a:miter lim="400000"/>
          </a:ln>
        </p:spPr>
      </p:pic>
      <p:sp>
        <p:nvSpPr>
          <p:cNvPr id="337" name="Shape 24"/>
          <p:cNvSpPr/>
          <p:nvPr/>
        </p:nvSpPr>
        <p:spPr>
          <a:xfrm>
            <a:off x="4850274" y="2615083"/>
            <a:ext cx="3581368" cy="514351"/>
          </a:xfrm>
          <a:prstGeom prst="roundRect">
            <a:avLst>
              <a:gd name="adj" fmla="val 14815"/>
            </a:avLst>
          </a:prstGeom>
          <a:ln w="25400">
            <a:solidFill>
              <a:srgbClr val="3358D4"/>
            </a:solidFill>
          </a:ln>
          <a:effectLst>
            <a:outerShdw sx="100000" sy="100000" kx="0" ky="0" algn="b" rotWithShape="0" blurRad="38100" dist="0" dir="60000">
              <a:srgbClr val="3358D4">
                <a:alpha val="20000"/>
              </a:srgbClr>
            </a:outerShdw>
          </a:effectLst>
        </p:spPr>
        <p:txBody>
          <a:bodyPr lIns="45719" rIns="45719"/>
          <a:lstStyle/>
          <a:p>
            <a:pPr/>
          </a:p>
        </p:txBody>
      </p:sp>
      <p:sp>
        <p:nvSpPr>
          <p:cNvPr id="338" name="Shape 25"/>
          <p:cNvSpPr/>
          <p:nvPr/>
        </p:nvSpPr>
        <p:spPr>
          <a:xfrm>
            <a:off x="8730099" y="1789583"/>
            <a:ext cx="1797043" cy="533368"/>
          </a:xfrm>
          <a:prstGeom prst="roundRect">
            <a:avLst>
              <a:gd name="adj" fmla="val 14287"/>
            </a:avLst>
          </a:prstGeom>
          <a:ln w="25400">
            <a:solidFill>
              <a:srgbClr val="D64545"/>
            </a:solidFill>
          </a:ln>
          <a:effectLst>
            <a:outerShdw sx="100000" sy="100000" kx="0" ky="0" algn="b" rotWithShape="0" blurRad="38100" dist="0" dir="60000">
              <a:srgbClr val="D64545">
                <a:alpha val="20000"/>
              </a:srgbClr>
            </a:outerShdw>
          </a:effectLst>
        </p:spPr>
        <p:txBody>
          <a:bodyPr lIns="45719" rIns="45719"/>
          <a:lstStyle/>
          <a:p>
            <a:pPr/>
          </a:p>
        </p:txBody>
      </p:sp>
      <p:sp>
        <p:nvSpPr>
          <p:cNvPr id="339" name="Shape 26"/>
          <p:cNvSpPr/>
          <p:nvPr/>
        </p:nvSpPr>
        <p:spPr>
          <a:xfrm>
            <a:off x="4739116" y="2732539"/>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40" name="Text 27"/>
          <p:cNvSpPr txBox="1"/>
          <p:nvPr/>
        </p:nvSpPr>
        <p:spPr>
          <a:xfrm>
            <a:off x="4833689" y="2771259"/>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341" name="Shape 28"/>
          <p:cNvSpPr/>
          <p:nvPr/>
        </p:nvSpPr>
        <p:spPr>
          <a:xfrm>
            <a:off x="8447541" y="1919733"/>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42" name="Text 29"/>
          <p:cNvSpPr txBox="1"/>
          <p:nvPr/>
        </p:nvSpPr>
        <p:spPr>
          <a:xfrm>
            <a:off x="8542114" y="1958453"/>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
        <p:nvSpPr>
          <p:cNvPr id="343" name="Shape 30"/>
          <p:cNvSpPr/>
          <p:nvPr/>
        </p:nvSpPr>
        <p:spPr>
          <a:xfrm>
            <a:off x="8054941" y="3546438"/>
            <a:ext cx="3422651" cy="2633035"/>
          </a:xfrm>
          <a:prstGeom prst="roundRect">
            <a:avLst>
              <a:gd name="adj" fmla="val 6150"/>
            </a:avLst>
          </a:prstGeom>
          <a:solidFill>
            <a:srgbClr val="0E1116">
              <a:alpha val="4000"/>
            </a:srgbClr>
          </a:solidFill>
          <a:ln w="6350">
            <a:solidFill>
              <a:srgbClr val="0E1116">
                <a:alpha val="8000"/>
              </a:srgbClr>
            </a:solidFill>
          </a:ln>
        </p:spPr>
        <p:txBody>
          <a:bodyPr lIns="45719" rIns="45719"/>
          <a:lstStyle/>
          <a:p>
            <a:pPr/>
          </a:p>
        </p:txBody>
      </p:sp>
      <p:pic>
        <p:nvPicPr>
          <p:cNvPr id="344" name="Image 1" descr="Image 1"/>
          <p:cNvPicPr>
            <a:picLocks noChangeAspect="1"/>
          </p:cNvPicPr>
          <p:nvPr/>
        </p:nvPicPr>
        <p:blipFill>
          <a:blip r:embed="rId4">
            <a:extLst/>
          </a:blip>
          <a:srcRect l="10" t="0" r="9" b="0"/>
          <a:stretch>
            <a:fillRect/>
          </a:stretch>
        </p:blipFill>
        <p:spPr>
          <a:xfrm>
            <a:off x="8107825" y="3599320"/>
            <a:ext cx="3314701" cy="2527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 y="0"/>
                </a:moveTo>
                <a:cubicBezTo>
                  <a:pt x="333" y="0"/>
                  <a:pt x="0" y="437"/>
                  <a:pt x="0" y="977"/>
                </a:cubicBezTo>
                <a:lnTo>
                  <a:pt x="0" y="20623"/>
                </a:lnTo>
                <a:cubicBezTo>
                  <a:pt x="0" y="21163"/>
                  <a:pt x="333" y="21600"/>
                  <a:pt x="745" y="21600"/>
                </a:cubicBezTo>
                <a:lnTo>
                  <a:pt x="20855" y="21600"/>
                </a:lnTo>
                <a:cubicBezTo>
                  <a:pt x="21267" y="21600"/>
                  <a:pt x="21600" y="21163"/>
                  <a:pt x="21600" y="20623"/>
                </a:cubicBezTo>
                <a:lnTo>
                  <a:pt x="21600" y="977"/>
                </a:lnTo>
                <a:cubicBezTo>
                  <a:pt x="21600" y="437"/>
                  <a:pt x="21267" y="0"/>
                  <a:pt x="20855" y="0"/>
                </a:cubicBezTo>
                <a:lnTo>
                  <a:pt x="745" y="0"/>
                </a:lnTo>
                <a:close/>
              </a:path>
            </a:pathLst>
          </a:custGeom>
          <a:ln w="12700">
            <a:miter lim="400000"/>
          </a:ln>
        </p:spPr>
      </p:pic>
      <p:sp>
        <p:nvSpPr>
          <p:cNvPr id="345" name="Shape 31"/>
          <p:cNvSpPr/>
          <p:nvPr/>
        </p:nvSpPr>
        <p:spPr>
          <a:xfrm>
            <a:off x="8117350" y="3608845"/>
            <a:ext cx="273026" cy="273027"/>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46" name="Text 32"/>
          <p:cNvSpPr txBox="1"/>
          <p:nvPr/>
        </p:nvSpPr>
        <p:spPr>
          <a:xfrm>
            <a:off x="8211922" y="3647566"/>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3</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350"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351" name="Shape 1"/>
          <p:cNvSpPr/>
          <p:nvPr/>
        </p:nvSpPr>
        <p:spPr>
          <a:xfrm>
            <a:off x="711192"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2" name="Shape 2"/>
          <p:cNvSpPr/>
          <p:nvPr/>
        </p:nvSpPr>
        <p:spPr>
          <a:xfrm>
            <a:off x="1117534"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3" name="Shape 3"/>
          <p:cNvSpPr/>
          <p:nvPr/>
        </p:nvSpPr>
        <p:spPr>
          <a:xfrm>
            <a:off x="1523875"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4" name="Shape 4"/>
          <p:cNvSpPr/>
          <p:nvPr/>
        </p:nvSpPr>
        <p:spPr>
          <a:xfrm>
            <a:off x="1930218"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5" name="Shape 5"/>
          <p:cNvSpPr/>
          <p:nvPr/>
        </p:nvSpPr>
        <p:spPr>
          <a:xfrm>
            <a:off x="2336560"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6" name="Shape 6"/>
          <p:cNvSpPr/>
          <p:nvPr/>
        </p:nvSpPr>
        <p:spPr>
          <a:xfrm>
            <a:off x="2742901" y="1371600"/>
            <a:ext cx="355576" cy="38075"/>
          </a:xfrm>
          <a:prstGeom prst="roundRect">
            <a:avLst>
              <a:gd name="adj" fmla="val 50000"/>
            </a:avLst>
          </a:prstGeom>
          <a:solidFill>
            <a:srgbClr val="0E1116"/>
          </a:solidFill>
          <a:ln w="12700">
            <a:miter lim="400000"/>
          </a:ln>
        </p:spPr>
        <p:txBody>
          <a:bodyPr lIns="45719" rIns="45719"/>
          <a:lstStyle/>
          <a:p>
            <a:pPr/>
          </a:p>
        </p:txBody>
      </p:sp>
      <p:sp>
        <p:nvSpPr>
          <p:cNvPr id="357" name="Shape 7"/>
          <p:cNvSpPr/>
          <p:nvPr/>
        </p:nvSpPr>
        <p:spPr>
          <a:xfrm>
            <a:off x="3149244" y="1371600"/>
            <a:ext cx="355576" cy="38075"/>
          </a:xfrm>
          <a:prstGeom prst="roundRect">
            <a:avLst>
              <a:gd name="adj" fmla="val 50000"/>
            </a:avLst>
          </a:prstGeom>
          <a:solidFill>
            <a:srgbClr val="3358D4"/>
          </a:solidFill>
          <a:ln w="12700">
            <a:miter lim="400000"/>
          </a:ln>
        </p:spPr>
        <p:txBody>
          <a:bodyPr lIns="45719" rIns="45719"/>
          <a:lstStyle/>
          <a:p>
            <a:pPr/>
          </a:p>
        </p:txBody>
      </p:sp>
      <p:sp>
        <p:nvSpPr>
          <p:cNvPr id="358" name="Text 8"/>
          <p:cNvSpPr txBox="1"/>
          <p:nvPr/>
        </p:nvSpPr>
        <p:spPr>
          <a:xfrm>
            <a:off x="3631786" y="1288169"/>
            <a:ext cx="469909"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8A8F99"/>
                </a:solidFill>
                <a:latin typeface="Geist Mono"/>
                <a:ea typeface="Geist Mono"/>
                <a:cs typeface="Geist Mono"/>
                <a:sym typeface="Geist Mono"/>
              </a:defRPr>
            </a:lvl1pPr>
          </a:lstStyle>
          <a:p>
            <a:pPr/>
            <a:r>
              <a:t>7 / 7</a:t>
            </a:r>
          </a:p>
        </p:txBody>
      </p:sp>
      <p:sp>
        <p:nvSpPr>
          <p:cNvPr id="359" name="Text 9"/>
          <p:cNvSpPr txBox="1"/>
          <p:nvPr/>
        </p:nvSpPr>
        <p:spPr>
          <a:xfrm>
            <a:off x="711192" y="1674154"/>
            <a:ext cx="972833"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5B606B"/>
                </a:solidFill>
                <a:latin typeface="Geist Mono"/>
                <a:ea typeface="Geist Mono"/>
                <a:cs typeface="Geist Mono"/>
                <a:sym typeface="Geist Mono"/>
              </a:defRPr>
            </a:lvl1pPr>
          </a:lstStyle>
          <a:p>
            <a:pPr/>
            <a:r>
              <a:t>Demo case 7</a:t>
            </a:r>
          </a:p>
        </p:txBody>
      </p:sp>
      <p:sp>
        <p:nvSpPr>
          <p:cNvPr id="360" name="Shape 10"/>
          <p:cNvSpPr/>
          <p:nvPr/>
        </p:nvSpPr>
        <p:spPr>
          <a:xfrm>
            <a:off x="1709415" y="2067879"/>
            <a:ext cx="396173" cy="271695"/>
          </a:xfrm>
          <a:prstGeom prst="roundRect">
            <a:avLst>
              <a:gd name="adj" fmla="val 50000"/>
            </a:avLst>
          </a:prstGeom>
          <a:solidFill>
            <a:srgbClr val="EDF1FD"/>
          </a:solidFill>
          <a:ln w="12700">
            <a:miter lim="400000"/>
          </a:ln>
        </p:spPr>
        <p:txBody>
          <a:bodyPr lIns="45719" rIns="45719"/>
          <a:lstStyle/>
          <a:p>
            <a:pPr/>
          </a:p>
        </p:txBody>
      </p:sp>
      <p:sp>
        <p:nvSpPr>
          <p:cNvPr id="361" name="Text 11"/>
          <p:cNvSpPr txBox="1"/>
          <p:nvPr/>
        </p:nvSpPr>
        <p:spPr>
          <a:xfrm>
            <a:off x="1823715" y="1674179"/>
            <a:ext cx="218372" cy="22089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sz="1100">
                <a:solidFill>
                  <a:srgbClr val="2A47AE"/>
                </a:solidFill>
                <a:latin typeface="Geist Mono"/>
                <a:ea typeface="Geist Mono"/>
                <a:cs typeface="Geist Mono"/>
                <a:sym typeface="Geist Mono"/>
              </a:defRPr>
            </a:lvl1pPr>
          </a:lstStyle>
          <a:p>
            <a:pPr/>
            <a:r>
              <a:t>TA</a:t>
            </a:r>
          </a:p>
        </p:txBody>
      </p:sp>
      <p:sp>
        <p:nvSpPr>
          <p:cNvPr id="362" name="Text 12"/>
          <p:cNvSpPr txBox="1"/>
          <p:nvPr/>
        </p:nvSpPr>
        <p:spPr>
          <a:xfrm>
            <a:off x="711191" y="2085540"/>
            <a:ext cx="3531872"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000"/>
              </a:lnSpc>
              <a:defRPr b="1" spc="-100" sz="2900">
                <a:solidFill>
                  <a:srgbClr val="0E1116"/>
                </a:solidFill>
                <a:latin typeface="Geist"/>
                <a:ea typeface="Geist"/>
                <a:cs typeface="Geist"/>
                <a:sym typeface="Geist"/>
              </a:defRPr>
            </a:lvl1pPr>
          </a:lstStyle>
          <a:p>
            <a:pPr/>
            <a:r>
              <a:t>Each TA sees where they stand</a:t>
            </a:r>
          </a:p>
        </p:txBody>
      </p:sp>
      <p:sp>
        <p:nvSpPr>
          <p:cNvPr id="363" name="Text 13"/>
          <p:cNvSpPr txBox="1"/>
          <p:nvPr/>
        </p:nvSpPr>
        <p:spPr>
          <a:xfrm>
            <a:off x="711191" y="3036720"/>
            <a:ext cx="3531872" cy="50421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Nikos's own stats: to calibrate, not to compete.</a:t>
            </a:r>
          </a:p>
        </p:txBody>
      </p:sp>
      <p:sp>
        <p:nvSpPr>
          <p:cNvPr id="364" name="Shape 14"/>
          <p:cNvSpPr/>
          <p:nvPr/>
        </p:nvSpPr>
        <p:spPr>
          <a:xfrm>
            <a:off x="711192" y="3693300"/>
            <a:ext cx="254001" cy="254001"/>
          </a:xfrm>
          <a:prstGeom prst="roundRect">
            <a:avLst>
              <a:gd name="adj" fmla="val 50000"/>
            </a:avLst>
          </a:prstGeom>
          <a:solidFill>
            <a:srgbClr val="0E1116"/>
          </a:solidFill>
          <a:ln w="12700">
            <a:miter lim="400000"/>
          </a:ln>
        </p:spPr>
        <p:txBody>
          <a:bodyPr lIns="45719" rIns="45719"/>
          <a:lstStyle/>
          <a:p>
            <a:pPr/>
          </a:p>
        </p:txBody>
      </p:sp>
      <p:sp>
        <p:nvSpPr>
          <p:cNvPr id="365" name="Text 15"/>
          <p:cNvSpPr txBox="1"/>
          <p:nvPr/>
        </p:nvSpPr>
        <p:spPr>
          <a:xfrm>
            <a:off x="800075" y="3731419"/>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1</a:t>
            </a:r>
          </a:p>
        </p:txBody>
      </p:sp>
      <p:sp>
        <p:nvSpPr>
          <p:cNvPr id="366" name="Text 16"/>
          <p:cNvSpPr txBox="1"/>
          <p:nvPr/>
        </p:nvSpPr>
        <p:spPr>
          <a:xfrm>
            <a:off x="1079459" y="3693300"/>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He gives 0.10 points less than the AI per paper. Within the threshold.</a:t>
            </a:r>
          </a:p>
        </p:txBody>
      </p:sp>
      <p:sp>
        <p:nvSpPr>
          <p:cNvPr id="367" name="Shape 17"/>
          <p:cNvSpPr/>
          <p:nvPr/>
        </p:nvSpPr>
        <p:spPr>
          <a:xfrm>
            <a:off x="711192" y="4275961"/>
            <a:ext cx="254001" cy="254001"/>
          </a:xfrm>
          <a:prstGeom prst="roundRect">
            <a:avLst>
              <a:gd name="adj" fmla="val 50000"/>
            </a:avLst>
          </a:prstGeom>
          <a:solidFill>
            <a:srgbClr val="0E1116"/>
          </a:solidFill>
          <a:ln w="12700">
            <a:miter lim="400000"/>
          </a:ln>
        </p:spPr>
        <p:txBody>
          <a:bodyPr lIns="45719" rIns="45719"/>
          <a:lstStyle/>
          <a:p>
            <a:pPr/>
          </a:p>
        </p:txBody>
      </p:sp>
      <p:sp>
        <p:nvSpPr>
          <p:cNvPr id="368" name="Text 18"/>
          <p:cNvSpPr txBox="1"/>
          <p:nvPr/>
        </p:nvSpPr>
        <p:spPr>
          <a:xfrm>
            <a:off x="800075" y="4314080"/>
            <a:ext cx="127034" cy="203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400"/>
              </a:lnSpc>
              <a:defRPr b="1" sz="1000">
                <a:solidFill>
                  <a:srgbClr val="FFFFFF"/>
                </a:solidFill>
                <a:latin typeface="Geist Mono"/>
                <a:ea typeface="Geist Mono"/>
                <a:cs typeface="Geist Mono"/>
                <a:sym typeface="Geist Mono"/>
              </a:defRPr>
            </a:lvl1pPr>
          </a:lstStyle>
          <a:p>
            <a:pPr/>
            <a:r>
              <a:t>2</a:t>
            </a:r>
          </a:p>
        </p:txBody>
      </p:sp>
      <p:sp>
        <p:nvSpPr>
          <p:cNvPr id="369" name="Text 19"/>
          <p:cNvSpPr txBox="1"/>
          <p:nvPr/>
        </p:nvSpPr>
        <p:spPr>
          <a:xfrm>
            <a:off x="1079459" y="4275961"/>
            <a:ext cx="3152556" cy="48106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700"/>
              </a:lnSpc>
              <a:defRPr sz="1300">
                <a:solidFill>
                  <a:srgbClr val="0E1116"/>
                </a:solidFill>
                <a:latin typeface="Geist"/>
                <a:ea typeface="Geist"/>
                <a:cs typeface="Geist"/>
                <a:sym typeface="Geist"/>
              </a:defRPr>
            </a:lvl1pPr>
          </a:lstStyle>
          <a:p>
            <a:pPr/>
            <a:r>
              <a:t>5 of 10 papers match the AI exactly, 9 of 10 within half a point.</a:t>
            </a:r>
          </a:p>
        </p:txBody>
      </p:sp>
      <p:sp>
        <p:nvSpPr>
          <p:cNvPr id="370" name="Shape 20"/>
          <p:cNvSpPr/>
          <p:nvPr/>
        </p:nvSpPr>
        <p:spPr>
          <a:xfrm>
            <a:off x="4498942" y="1210747"/>
            <a:ext cx="6978651" cy="4436461"/>
          </a:xfrm>
          <a:prstGeom prst="roundRect">
            <a:avLst>
              <a:gd name="adj" fmla="val 3650"/>
            </a:avLst>
          </a:prstGeom>
          <a:solidFill>
            <a:srgbClr val="0E1116">
              <a:alpha val="4000"/>
            </a:srgbClr>
          </a:solidFill>
          <a:ln w="6350">
            <a:solidFill>
              <a:srgbClr val="0E1116">
                <a:alpha val="8000"/>
              </a:srgbClr>
            </a:solidFill>
          </a:ln>
        </p:spPr>
        <p:txBody>
          <a:bodyPr lIns="45719" rIns="45719"/>
          <a:lstStyle/>
          <a:p>
            <a:pPr/>
          </a:p>
        </p:txBody>
      </p:sp>
      <p:pic>
        <p:nvPicPr>
          <p:cNvPr id="371" name="Image 0" descr="Image 0"/>
          <p:cNvPicPr>
            <a:picLocks noChangeAspect="1"/>
          </p:cNvPicPr>
          <p:nvPr/>
        </p:nvPicPr>
        <p:blipFill>
          <a:blip r:embed="rId3">
            <a:extLst/>
          </a:blip>
          <a:srcRect l="0" t="14" r="0" b="13"/>
          <a:stretch>
            <a:fillRect/>
          </a:stretch>
        </p:blipFill>
        <p:spPr>
          <a:xfrm>
            <a:off x="4551824" y="1263630"/>
            <a:ext cx="6870691" cy="4330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 y="0"/>
                </a:moveTo>
                <a:cubicBezTo>
                  <a:pt x="161" y="0"/>
                  <a:pt x="0" y="255"/>
                  <a:pt x="0" y="570"/>
                </a:cubicBezTo>
                <a:lnTo>
                  <a:pt x="0" y="21030"/>
                </a:lnTo>
                <a:cubicBezTo>
                  <a:pt x="0" y="21345"/>
                  <a:pt x="161" y="21600"/>
                  <a:pt x="359" y="21600"/>
                </a:cubicBezTo>
                <a:lnTo>
                  <a:pt x="21241" y="21600"/>
                </a:lnTo>
                <a:cubicBezTo>
                  <a:pt x="21439" y="21600"/>
                  <a:pt x="21600" y="21345"/>
                  <a:pt x="21600" y="21030"/>
                </a:cubicBezTo>
                <a:lnTo>
                  <a:pt x="21600" y="570"/>
                </a:lnTo>
                <a:cubicBezTo>
                  <a:pt x="21600" y="255"/>
                  <a:pt x="21439" y="0"/>
                  <a:pt x="21241" y="0"/>
                </a:cubicBezTo>
                <a:lnTo>
                  <a:pt x="359" y="0"/>
                </a:lnTo>
                <a:close/>
              </a:path>
            </a:pathLst>
          </a:custGeom>
          <a:ln w="12700">
            <a:miter lim="400000"/>
          </a:ln>
        </p:spPr>
      </p:pic>
      <p:sp>
        <p:nvSpPr>
          <p:cNvPr id="372" name="Shape 21"/>
          <p:cNvSpPr/>
          <p:nvPr/>
        </p:nvSpPr>
        <p:spPr>
          <a:xfrm>
            <a:off x="4624849" y="22256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73" name="Text 22"/>
          <p:cNvSpPr txBox="1"/>
          <p:nvPr/>
        </p:nvSpPr>
        <p:spPr>
          <a:xfrm>
            <a:off x="4719422" y="2264377"/>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1</a:t>
            </a:r>
          </a:p>
        </p:txBody>
      </p:sp>
      <p:sp>
        <p:nvSpPr>
          <p:cNvPr id="374" name="Shape 23"/>
          <p:cNvSpPr/>
          <p:nvPr/>
        </p:nvSpPr>
        <p:spPr>
          <a:xfrm>
            <a:off x="7882366" y="4194156"/>
            <a:ext cx="273026" cy="273026"/>
          </a:xfrm>
          <a:prstGeom prst="roundRect">
            <a:avLst>
              <a:gd name="adj" fmla="val 50000"/>
            </a:avLst>
          </a:prstGeom>
          <a:solidFill>
            <a:srgbClr val="0E1116"/>
          </a:solidFill>
          <a:ln w="19050">
            <a:solidFill>
              <a:srgbClr val="FFFFFF"/>
            </a:solidFill>
          </a:ln>
          <a:effectLst>
            <a:outerShdw sx="100000" sy="100000" kx="0" ky="0" algn="b" rotWithShape="0" blurRad="101600" dist="38100" dir="5400000">
              <a:srgbClr val="0E1116">
                <a:alpha val="35000"/>
              </a:srgbClr>
            </a:outerShdw>
          </a:effectLst>
        </p:spPr>
        <p:txBody>
          <a:bodyPr lIns="45719" rIns="45719"/>
          <a:lstStyle/>
          <a:p>
            <a:pPr/>
          </a:p>
        </p:txBody>
      </p:sp>
      <p:sp>
        <p:nvSpPr>
          <p:cNvPr id="375" name="Text 24"/>
          <p:cNvSpPr txBox="1"/>
          <p:nvPr/>
        </p:nvSpPr>
        <p:spPr>
          <a:xfrm>
            <a:off x="7976938" y="4232876"/>
            <a:ext cx="134641" cy="22094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500"/>
              </a:lnSpc>
              <a:defRPr b="1" sz="1100">
                <a:solidFill>
                  <a:srgbClr val="FFFFFF"/>
                </a:solidFill>
                <a:latin typeface="Geist Mono"/>
                <a:ea typeface="Geist Mono"/>
                <a:cs typeface="Geist Mono"/>
                <a:sym typeface="Geist Mono"/>
              </a:defRPr>
            </a:lvl1pPr>
          </a:lstStyle>
          <a:p>
            <a:pPr/>
            <a:r>
              <a:t>2</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379"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380" name="Shape 1"/>
          <p:cNvSpPr/>
          <p:nvPr/>
        </p:nvSpPr>
        <p:spPr>
          <a:xfrm>
            <a:off x="815941" y="815937"/>
            <a:ext cx="1538404"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381" name="Text 2"/>
          <p:cNvSpPr txBox="1"/>
          <p:nvPr/>
        </p:nvSpPr>
        <p:spPr>
          <a:xfrm>
            <a:off x="1055714" y="843454"/>
            <a:ext cx="1058859"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How it decides</a:t>
            </a:r>
          </a:p>
        </p:txBody>
      </p:sp>
      <p:sp>
        <p:nvSpPr>
          <p:cNvPr id="382" name="Text 3"/>
          <p:cNvSpPr txBox="1"/>
          <p:nvPr/>
        </p:nvSpPr>
        <p:spPr>
          <a:xfrm>
            <a:off x="812766" y="1290587"/>
            <a:ext cx="10883462" cy="5054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700"/>
              </a:lnSpc>
              <a:defRPr b="1" spc="-200" sz="3600">
                <a:solidFill>
                  <a:srgbClr val="0E1116"/>
                </a:solidFill>
                <a:latin typeface="Geist"/>
                <a:ea typeface="Geist"/>
                <a:cs typeface="Geist"/>
                <a:sym typeface="Geist"/>
              </a:defRPr>
            </a:lvl1pPr>
          </a:lstStyle>
          <a:p>
            <a:pPr/>
            <a:r>
              <a:t>A yardstick, not the judge</a:t>
            </a:r>
          </a:p>
        </p:txBody>
      </p:sp>
      <p:sp>
        <p:nvSpPr>
          <p:cNvPr id="383" name="Shape 4"/>
          <p:cNvSpPr/>
          <p:nvPr/>
        </p:nvSpPr>
        <p:spPr>
          <a:xfrm>
            <a:off x="815941" y="2078539"/>
            <a:ext cx="5200693" cy="1674169"/>
          </a:xfrm>
          <a:prstGeom prst="roundRect">
            <a:avLst>
              <a:gd name="adj" fmla="val 11948"/>
            </a:avLst>
          </a:prstGeom>
          <a:solidFill>
            <a:srgbClr val="0E1116">
              <a:alpha val="3000"/>
            </a:srgbClr>
          </a:solidFill>
          <a:ln w="6350">
            <a:solidFill>
              <a:srgbClr val="0E1116">
                <a:alpha val="6000"/>
              </a:srgbClr>
            </a:solidFill>
          </a:ln>
        </p:spPr>
        <p:txBody>
          <a:bodyPr lIns="45719" rIns="45719"/>
          <a:lstStyle/>
          <a:p>
            <a:pPr/>
          </a:p>
        </p:txBody>
      </p:sp>
      <p:sp>
        <p:nvSpPr>
          <p:cNvPr id="384" name="Shape 5"/>
          <p:cNvSpPr/>
          <p:nvPr/>
        </p:nvSpPr>
        <p:spPr>
          <a:xfrm>
            <a:off x="868824" y="2131423"/>
            <a:ext cx="5094925" cy="1568402"/>
          </a:xfrm>
          <a:prstGeom prst="roundRect">
            <a:avLst>
              <a:gd name="adj" fmla="val 9717"/>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385" name="Image 0" descr="Image 0"/>
          <p:cNvPicPr>
            <a:picLocks noChangeAspect="1"/>
          </p:cNvPicPr>
          <p:nvPr/>
        </p:nvPicPr>
        <p:blipFill>
          <a:blip r:embed="rId3">
            <a:extLst/>
          </a:blip>
          <a:stretch>
            <a:fillRect/>
          </a:stretch>
        </p:blipFill>
        <p:spPr>
          <a:xfrm>
            <a:off x="1097401" y="2359998"/>
            <a:ext cx="279384" cy="279384"/>
          </a:xfrm>
          <a:prstGeom prst="rect">
            <a:avLst/>
          </a:prstGeom>
          <a:ln w="12700">
            <a:miter lim="400000"/>
          </a:ln>
        </p:spPr>
      </p:pic>
      <p:sp>
        <p:nvSpPr>
          <p:cNvPr id="386" name="Text 6"/>
          <p:cNvSpPr txBox="1"/>
          <p:nvPr/>
        </p:nvSpPr>
        <p:spPr>
          <a:xfrm>
            <a:off x="1554551" y="2359998"/>
            <a:ext cx="4306042"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Independent</a:t>
            </a:r>
          </a:p>
        </p:txBody>
      </p:sp>
      <p:sp>
        <p:nvSpPr>
          <p:cNvPr id="387" name="Text 7"/>
          <p:cNvSpPr txBox="1"/>
          <p:nvPr/>
        </p:nvSpPr>
        <p:spPr>
          <a:xfrm>
            <a:off x="1554551" y="2826739"/>
            <a:ext cx="4306042"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5B606B"/>
                </a:solidFill>
                <a:latin typeface="Geist"/>
                <a:ea typeface="Geist"/>
                <a:cs typeface="Geist"/>
                <a:sym typeface="Geist"/>
              </a:defRPr>
            </a:lvl1pPr>
          </a:lstStyle>
          <a:p>
            <a:pPr/>
            <a:r>
              <a:t>The AI never sees a TA's points, and the TA sees the AI's only after submitting.</a:t>
            </a:r>
          </a:p>
        </p:txBody>
      </p:sp>
      <p:sp>
        <p:nvSpPr>
          <p:cNvPr id="388" name="Shape 8"/>
          <p:cNvSpPr/>
          <p:nvPr/>
        </p:nvSpPr>
        <p:spPr>
          <a:xfrm>
            <a:off x="6175366" y="2078539"/>
            <a:ext cx="5200692" cy="1674169"/>
          </a:xfrm>
          <a:prstGeom prst="roundRect">
            <a:avLst>
              <a:gd name="adj" fmla="val 11948"/>
            </a:avLst>
          </a:prstGeom>
          <a:solidFill>
            <a:srgbClr val="0E1116">
              <a:alpha val="3000"/>
            </a:srgbClr>
          </a:solidFill>
          <a:ln w="6350">
            <a:solidFill>
              <a:srgbClr val="0E1116">
                <a:alpha val="6000"/>
              </a:srgbClr>
            </a:solidFill>
          </a:ln>
        </p:spPr>
        <p:txBody>
          <a:bodyPr lIns="45719" rIns="45719"/>
          <a:lstStyle/>
          <a:p>
            <a:pPr/>
          </a:p>
        </p:txBody>
      </p:sp>
      <p:sp>
        <p:nvSpPr>
          <p:cNvPr id="389" name="Shape 9"/>
          <p:cNvSpPr/>
          <p:nvPr/>
        </p:nvSpPr>
        <p:spPr>
          <a:xfrm>
            <a:off x="6228250" y="2131423"/>
            <a:ext cx="5094924" cy="1568401"/>
          </a:xfrm>
          <a:prstGeom prst="roundRect">
            <a:avLst>
              <a:gd name="adj" fmla="val 9717"/>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390" name="Image 1" descr="Image 1"/>
          <p:cNvPicPr>
            <a:picLocks noChangeAspect="1"/>
          </p:cNvPicPr>
          <p:nvPr/>
        </p:nvPicPr>
        <p:blipFill>
          <a:blip r:embed="rId4">
            <a:extLst/>
          </a:blip>
          <a:stretch>
            <a:fillRect/>
          </a:stretch>
        </p:blipFill>
        <p:spPr>
          <a:xfrm>
            <a:off x="6456824" y="2359998"/>
            <a:ext cx="279384" cy="279384"/>
          </a:xfrm>
          <a:prstGeom prst="rect">
            <a:avLst/>
          </a:prstGeom>
          <a:ln w="12700">
            <a:miter lim="400000"/>
          </a:ln>
        </p:spPr>
      </p:pic>
      <p:sp>
        <p:nvSpPr>
          <p:cNvPr id="391" name="Text 10"/>
          <p:cNvSpPr txBox="1"/>
          <p:nvPr/>
        </p:nvSpPr>
        <p:spPr>
          <a:xfrm>
            <a:off x="6913975" y="2359998"/>
            <a:ext cx="430604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Private</a:t>
            </a:r>
          </a:p>
        </p:txBody>
      </p:sp>
      <p:sp>
        <p:nvSpPr>
          <p:cNvPr id="392" name="Text 11"/>
          <p:cNvSpPr txBox="1"/>
          <p:nvPr/>
        </p:nvSpPr>
        <p:spPr>
          <a:xfrm>
            <a:off x="6913975" y="2697838"/>
            <a:ext cx="4306043"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5B606B"/>
                </a:solidFill>
                <a:latin typeface="Geist"/>
                <a:ea typeface="Geist"/>
                <a:cs typeface="Geist"/>
                <a:sym typeface="Geist"/>
              </a:defRPr>
            </a:lvl1pPr>
          </a:lstStyle>
          <a:p>
            <a:pPr/>
            <a:r>
              <a:t>The AI sees the question, model answer and transcribed text. Never names, student IDs or TA points.</a:t>
            </a:r>
          </a:p>
        </p:txBody>
      </p:sp>
      <p:sp>
        <p:nvSpPr>
          <p:cNvPr id="393" name="Shape 12"/>
          <p:cNvSpPr/>
          <p:nvPr/>
        </p:nvSpPr>
        <p:spPr>
          <a:xfrm>
            <a:off x="815941" y="3911439"/>
            <a:ext cx="5200693" cy="1674169"/>
          </a:xfrm>
          <a:prstGeom prst="roundRect">
            <a:avLst>
              <a:gd name="adj" fmla="val 11948"/>
            </a:avLst>
          </a:prstGeom>
          <a:solidFill>
            <a:srgbClr val="0E1116">
              <a:alpha val="3000"/>
            </a:srgbClr>
          </a:solidFill>
          <a:ln w="6350">
            <a:solidFill>
              <a:srgbClr val="0E1116">
                <a:alpha val="6000"/>
              </a:srgbClr>
            </a:solidFill>
          </a:ln>
        </p:spPr>
        <p:txBody>
          <a:bodyPr lIns="45719" rIns="45719"/>
          <a:lstStyle/>
          <a:p>
            <a:pPr/>
          </a:p>
        </p:txBody>
      </p:sp>
      <p:sp>
        <p:nvSpPr>
          <p:cNvPr id="394" name="Shape 13"/>
          <p:cNvSpPr/>
          <p:nvPr/>
        </p:nvSpPr>
        <p:spPr>
          <a:xfrm>
            <a:off x="868824" y="3964321"/>
            <a:ext cx="5094925" cy="1568404"/>
          </a:xfrm>
          <a:prstGeom prst="roundRect">
            <a:avLst>
              <a:gd name="adj" fmla="val 9717"/>
            </a:avLst>
          </a:prstGeom>
          <a:solidFill>
            <a:srgbClr val="FCEEEE"/>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395" name="Image 2" descr="Image 2"/>
          <p:cNvPicPr>
            <a:picLocks noChangeAspect="1"/>
          </p:cNvPicPr>
          <p:nvPr/>
        </p:nvPicPr>
        <p:blipFill>
          <a:blip r:embed="rId5">
            <a:extLst/>
          </a:blip>
          <a:stretch>
            <a:fillRect/>
          </a:stretch>
        </p:blipFill>
        <p:spPr>
          <a:xfrm>
            <a:off x="1097401" y="4192897"/>
            <a:ext cx="279384" cy="279384"/>
          </a:xfrm>
          <a:prstGeom prst="rect">
            <a:avLst/>
          </a:prstGeom>
          <a:ln w="12700">
            <a:miter lim="400000"/>
          </a:ln>
        </p:spPr>
      </p:pic>
      <p:sp>
        <p:nvSpPr>
          <p:cNvPr id="396" name="Text 14"/>
          <p:cNvSpPr txBox="1"/>
          <p:nvPr/>
        </p:nvSpPr>
        <p:spPr>
          <a:xfrm>
            <a:off x="1554551" y="4192897"/>
            <a:ext cx="4306042"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A real pattern</a:t>
            </a:r>
          </a:p>
        </p:txBody>
      </p:sp>
      <p:sp>
        <p:nvSpPr>
          <p:cNvPr id="397" name="Text 15"/>
          <p:cNvSpPr txBox="1"/>
          <p:nvPr/>
        </p:nvSpPr>
        <p:spPr>
          <a:xfrm>
            <a:off x="1554551" y="4530737"/>
            <a:ext cx="4306042"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5B606B"/>
                </a:solidFill>
                <a:latin typeface="Geist"/>
                <a:ea typeface="Geist"/>
                <a:cs typeface="Geist"/>
                <a:sym typeface="Geist"/>
              </a:defRPr>
            </a:lvl1pPr>
          </a:lstStyle>
          <a:p>
            <a:pPr/>
            <a:r>
              <a:t>A flag needs an average gap above 15% of the question's points, over at least 3 papers.</a:t>
            </a:r>
          </a:p>
        </p:txBody>
      </p:sp>
      <p:sp>
        <p:nvSpPr>
          <p:cNvPr id="398" name="Shape 16"/>
          <p:cNvSpPr/>
          <p:nvPr/>
        </p:nvSpPr>
        <p:spPr>
          <a:xfrm>
            <a:off x="6175366" y="3911439"/>
            <a:ext cx="5200692" cy="1674169"/>
          </a:xfrm>
          <a:prstGeom prst="roundRect">
            <a:avLst>
              <a:gd name="adj" fmla="val 11948"/>
            </a:avLst>
          </a:prstGeom>
          <a:solidFill>
            <a:srgbClr val="0E1116">
              <a:alpha val="3000"/>
            </a:srgbClr>
          </a:solidFill>
          <a:ln w="6350">
            <a:solidFill>
              <a:srgbClr val="0E1116">
                <a:alpha val="6000"/>
              </a:srgbClr>
            </a:solidFill>
          </a:ln>
        </p:spPr>
        <p:txBody>
          <a:bodyPr lIns="45719" rIns="45719"/>
          <a:lstStyle/>
          <a:p>
            <a:pPr/>
          </a:p>
        </p:txBody>
      </p:sp>
      <p:sp>
        <p:nvSpPr>
          <p:cNvPr id="399" name="Shape 17"/>
          <p:cNvSpPr/>
          <p:nvPr/>
        </p:nvSpPr>
        <p:spPr>
          <a:xfrm>
            <a:off x="6228250" y="3964321"/>
            <a:ext cx="5094924" cy="1568401"/>
          </a:xfrm>
          <a:prstGeom prst="roundRect">
            <a:avLst>
              <a:gd name="adj" fmla="val 9717"/>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00" name="Image 3" descr="Image 3"/>
          <p:cNvPicPr>
            <a:picLocks noChangeAspect="1"/>
          </p:cNvPicPr>
          <p:nvPr/>
        </p:nvPicPr>
        <p:blipFill>
          <a:blip r:embed="rId6">
            <a:extLst/>
          </a:blip>
          <a:stretch>
            <a:fillRect/>
          </a:stretch>
        </p:blipFill>
        <p:spPr>
          <a:xfrm>
            <a:off x="6456824" y="4192897"/>
            <a:ext cx="279384" cy="279384"/>
          </a:xfrm>
          <a:prstGeom prst="rect">
            <a:avLst/>
          </a:prstGeom>
          <a:ln w="12700">
            <a:miter lim="400000"/>
          </a:ln>
        </p:spPr>
      </p:pic>
      <p:sp>
        <p:nvSpPr>
          <p:cNvPr id="401" name="Text 18"/>
          <p:cNvSpPr txBox="1"/>
          <p:nvPr/>
        </p:nvSpPr>
        <p:spPr>
          <a:xfrm>
            <a:off x="6913975" y="4192897"/>
            <a:ext cx="430604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Humans decide</a:t>
            </a:r>
          </a:p>
        </p:txBody>
      </p:sp>
      <p:sp>
        <p:nvSpPr>
          <p:cNvPr id="402" name="Text 19"/>
          <p:cNvSpPr txBox="1"/>
          <p:nvPr/>
        </p:nvSpPr>
        <p:spPr>
          <a:xfrm>
            <a:off x="6913975" y="4530737"/>
            <a:ext cx="4306043" cy="79881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5B606B"/>
                </a:solidFill>
                <a:latin typeface="Geist"/>
                <a:ea typeface="Geist"/>
                <a:cs typeface="Geist"/>
                <a:sym typeface="Geist"/>
              </a:defRPr>
            </a:lvl1pPr>
          </a:lstStyle>
          <a:p>
            <a:pPr/>
            <a:r>
              <a:t>Every AI grade has its reasoning. Only the instructor reopens a paper, and every version is kept.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406"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407" name="Shape 1"/>
          <p:cNvSpPr/>
          <p:nvPr/>
        </p:nvSpPr>
        <p:spPr>
          <a:xfrm>
            <a:off x="815941" y="815937"/>
            <a:ext cx="1538404"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08" name="Text 2"/>
          <p:cNvSpPr txBox="1"/>
          <p:nvPr/>
        </p:nvSpPr>
        <p:spPr>
          <a:xfrm>
            <a:off x="1037309" y="843454"/>
            <a:ext cx="1095669"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Under the hood</a:t>
            </a:r>
          </a:p>
        </p:txBody>
      </p:sp>
      <p:sp>
        <p:nvSpPr>
          <p:cNvPr id="409" name="Text 3"/>
          <p:cNvSpPr txBox="1"/>
          <p:nvPr/>
        </p:nvSpPr>
        <p:spPr>
          <a:xfrm>
            <a:off x="812766" y="1290587"/>
            <a:ext cx="10883462" cy="50541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700"/>
              </a:lnSpc>
              <a:defRPr b="1" spc="-200" sz="3600">
                <a:solidFill>
                  <a:srgbClr val="0E1116"/>
                </a:solidFill>
                <a:latin typeface="Geist"/>
                <a:ea typeface="Geist"/>
                <a:cs typeface="Geist"/>
                <a:sym typeface="Geist"/>
              </a:defRPr>
            </a:lvl1pPr>
          </a:lstStyle>
          <a:p>
            <a:pPr/>
            <a:r>
              <a:t>From a scanned page to a flag</a:t>
            </a:r>
          </a:p>
        </p:txBody>
      </p:sp>
      <p:sp>
        <p:nvSpPr>
          <p:cNvPr id="410" name="Shape 4"/>
          <p:cNvSpPr/>
          <p:nvPr/>
        </p:nvSpPr>
        <p:spPr>
          <a:xfrm>
            <a:off x="815941" y="2655788"/>
            <a:ext cx="2273368" cy="1665239"/>
          </a:xfrm>
          <a:prstGeom prst="roundRect">
            <a:avLst>
              <a:gd name="adj" fmla="val 12012"/>
            </a:avLst>
          </a:prstGeom>
          <a:solidFill>
            <a:srgbClr val="0E1116">
              <a:alpha val="3000"/>
            </a:srgbClr>
          </a:solidFill>
          <a:ln w="6350">
            <a:solidFill>
              <a:srgbClr val="0E1116">
                <a:alpha val="6000"/>
              </a:srgbClr>
            </a:solidFill>
          </a:ln>
        </p:spPr>
        <p:txBody>
          <a:bodyPr lIns="45719" rIns="45719"/>
          <a:lstStyle/>
          <a:p>
            <a:pPr/>
          </a:p>
        </p:txBody>
      </p:sp>
      <p:sp>
        <p:nvSpPr>
          <p:cNvPr id="411" name="Shape 5"/>
          <p:cNvSpPr/>
          <p:nvPr/>
        </p:nvSpPr>
        <p:spPr>
          <a:xfrm>
            <a:off x="868824" y="2708672"/>
            <a:ext cx="2167601" cy="1559472"/>
          </a:xfrm>
          <a:prstGeom prst="roundRect">
            <a:avLst>
              <a:gd name="adj" fmla="val 9773"/>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412" name="Text 6"/>
          <p:cNvSpPr txBox="1"/>
          <p:nvPr/>
        </p:nvSpPr>
        <p:spPr>
          <a:xfrm>
            <a:off x="1072017" y="2911859"/>
            <a:ext cx="181405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01</a:t>
            </a:r>
          </a:p>
        </p:txBody>
      </p:sp>
      <p:sp>
        <p:nvSpPr>
          <p:cNvPr id="413" name="Text 7"/>
          <p:cNvSpPr txBox="1"/>
          <p:nvPr/>
        </p:nvSpPr>
        <p:spPr>
          <a:xfrm>
            <a:off x="1072017" y="3226754"/>
            <a:ext cx="1814052"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Scan</a:t>
            </a:r>
          </a:p>
        </p:txBody>
      </p:sp>
      <p:sp>
        <p:nvSpPr>
          <p:cNvPr id="414" name="Text 8"/>
          <p:cNvSpPr txBox="1"/>
          <p:nvPr/>
        </p:nvSpPr>
        <p:spPr>
          <a:xfrm>
            <a:off x="1072017" y="3602670"/>
            <a:ext cx="1814052" cy="487677"/>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TA uploads the paper as one PDF.</a:t>
            </a:r>
          </a:p>
        </p:txBody>
      </p:sp>
      <p:pic>
        <p:nvPicPr>
          <p:cNvPr id="415" name="Image 0" descr="Image 0"/>
          <p:cNvPicPr>
            <a:picLocks noChangeAspect="1"/>
          </p:cNvPicPr>
          <p:nvPr/>
        </p:nvPicPr>
        <p:blipFill>
          <a:blip r:embed="rId3">
            <a:extLst/>
          </a:blip>
          <a:stretch>
            <a:fillRect/>
          </a:stretch>
        </p:blipFill>
        <p:spPr>
          <a:xfrm>
            <a:off x="3194057" y="3418582"/>
            <a:ext cx="279384" cy="139693"/>
          </a:xfrm>
          <a:prstGeom prst="rect">
            <a:avLst/>
          </a:prstGeom>
          <a:ln w="12700">
            <a:miter lim="400000"/>
          </a:ln>
        </p:spPr>
      </p:pic>
      <p:sp>
        <p:nvSpPr>
          <p:cNvPr id="416" name="Shape 9"/>
          <p:cNvSpPr/>
          <p:nvPr/>
        </p:nvSpPr>
        <p:spPr>
          <a:xfrm>
            <a:off x="3578192" y="2540236"/>
            <a:ext cx="2273367" cy="1896376"/>
          </a:xfrm>
          <a:prstGeom prst="roundRect">
            <a:avLst>
              <a:gd name="adj" fmla="val 10548"/>
            </a:avLst>
          </a:prstGeom>
          <a:solidFill>
            <a:srgbClr val="0E1116">
              <a:alpha val="3000"/>
            </a:srgbClr>
          </a:solidFill>
          <a:ln w="6350">
            <a:solidFill>
              <a:srgbClr val="0E1116">
                <a:alpha val="6000"/>
              </a:srgbClr>
            </a:solidFill>
          </a:ln>
        </p:spPr>
        <p:txBody>
          <a:bodyPr lIns="45719" rIns="45719"/>
          <a:lstStyle/>
          <a:p>
            <a:pPr/>
          </a:p>
        </p:txBody>
      </p:sp>
      <p:sp>
        <p:nvSpPr>
          <p:cNvPr id="417" name="Shape 10"/>
          <p:cNvSpPr/>
          <p:nvPr/>
        </p:nvSpPr>
        <p:spPr>
          <a:xfrm>
            <a:off x="3631074" y="2593119"/>
            <a:ext cx="2167600" cy="1790609"/>
          </a:xfrm>
          <a:prstGeom prst="roundRect">
            <a:avLst>
              <a:gd name="adj" fmla="val 851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418" name="Text 11"/>
          <p:cNvSpPr txBox="1"/>
          <p:nvPr/>
        </p:nvSpPr>
        <p:spPr>
          <a:xfrm>
            <a:off x="3834267" y="2796313"/>
            <a:ext cx="1814052"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02</a:t>
            </a:r>
          </a:p>
        </p:txBody>
      </p:sp>
      <p:sp>
        <p:nvSpPr>
          <p:cNvPr id="419" name="Text 12"/>
          <p:cNvSpPr txBox="1"/>
          <p:nvPr/>
        </p:nvSpPr>
        <p:spPr>
          <a:xfrm>
            <a:off x="3834267" y="3111208"/>
            <a:ext cx="1814052"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Read</a:t>
            </a:r>
          </a:p>
        </p:txBody>
      </p:sp>
      <p:sp>
        <p:nvSpPr>
          <p:cNvPr id="420" name="Text 13"/>
          <p:cNvSpPr txBox="1"/>
          <p:nvPr/>
        </p:nvSpPr>
        <p:spPr>
          <a:xfrm>
            <a:off x="3834267" y="3487123"/>
            <a:ext cx="1814052" cy="71881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A vision LLM puts each answer under its question.</a:t>
            </a:r>
          </a:p>
        </p:txBody>
      </p:sp>
      <p:pic>
        <p:nvPicPr>
          <p:cNvPr id="421" name="Image 1" descr="Image 1"/>
          <p:cNvPicPr>
            <a:picLocks noChangeAspect="1"/>
          </p:cNvPicPr>
          <p:nvPr/>
        </p:nvPicPr>
        <p:blipFill>
          <a:blip r:embed="rId3">
            <a:extLst/>
          </a:blip>
          <a:stretch>
            <a:fillRect/>
          </a:stretch>
        </p:blipFill>
        <p:spPr>
          <a:xfrm>
            <a:off x="5956308" y="3418582"/>
            <a:ext cx="279384" cy="139693"/>
          </a:xfrm>
          <a:prstGeom prst="rect">
            <a:avLst/>
          </a:prstGeom>
          <a:ln w="12700">
            <a:miter lim="400000"/>
          </a:ln>
        </p:spPr>
      </p:pic>
      <p:sp>
        <p:nvSpPr>
          <p:cNvPr id="422" name="Shape 14"/>
          <p:cNvSpPr/>
          <p:nvPr/>
        </p:nvSpPr>
        <p:spPr>
          <a:xfrm>
            <a:off x="6340442" y="2540236"/>
            <a:ext cx="2273367" cy="1896376"/>
          </a:xfrm>
          <a:prstGeom prst="roundRect">
            <a:avLst>
              <a:gd name="adj" fmla="val 10548"/>
            </a:avLst>
          </a:prstGeom>
          <a:solidFill>
            <a:srgbClr val="0E1116">
              <a:alpha val="3000"/>
            </a:srgbClr>
          </a:solidFill>
          <a:ln w="6350">
            <a:solidFill>
              <a:srgbClr val="0E1116">
                <a:alpha val="6000"/>
              </a:srgbClr>
            </a:solidFill>
          </a:ln>
        </p:spPr>
        <p:txBody>
          <a:bodyPr lIns="45719" rIns="45719"/>
          <a:lstStyle/>
          <a:p>
            <a:pPr/>
          </a:p>
        </p:txBody>
      </p:sp>
      <p:sp>
        <p:nvSpPr>
          <p:cNvPr id="423" name="Shape 15"/>
          <p:cNvSpPr/>
          <p:nvPr/>
        </p:nvSpPr>
        <p:spPr>
          <a:xfrm>
            <a:off x="6393324" y="2593119"/>
            <a:ext cx="2167600" cy="1790609"/>
          </a:xfrm>
          <a:prstGeom prst="roundRect">
            <a:avLst>
              <a:gd name="adj" fmla="val 851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424" name="Text 16"/>
          <p:cNvSpPr txBox="1"/>
          <p:nvPr/>
        </p:nvSpPr>
        <p:spPr>
          <a:xfrm>
            <a:off x="6596516" y="2796313"/>
            <a:ext cx="1814053"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A8F99"/>
                </a:solidFill>
                <a:latin typeface="Geist Mono"/>
                <a:ea typeface="Geist Mono"/>
                <a:cs typeface="Geist Mono"/>
                <a:sym typeface="Geist Mono"/>
              </a:defRPr>
            </a:lvl1pPr>
          </a:lstStyle>
          <a:p>
            <a:pPr/>
            <a:r>
              <a:t>03</a:t>
            </a:r>
          </a:p>
        </p:txBody>
      </p:sp>
      <p:sp>
        <p:nvSpPr>
          <p:cNvPr id="425" name="Text 17"/>
          <p:cNvSpPr txBox="1"/>
          <p:nvPr/>
        </p:nvSpPr>
        <p:spPr>
          <a:xfrm>
            <a:off x="6596516" y="3111208"/>
            <a:ext cx="181405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0E1116"/>
                </a:solidFill>
                <a:latin typeface="Geist"/>
                <a:ea typeface="Geist"/>
                <a:cs typeface="Geist"/>
                <a:sym typeface="Geist"/>
              </a:defRPr>
            </a:lvl1pPr>
          </a:lstStyle>
          <a:p>
            <a:pPr/>
            <a:r>
              <a:t>Grade</a:t>
            </a:r>
          </a:p>
        </p:txBody>
      </p:sp>
      <p:sp>
        <p:nvSpPr>
          <p:cNvPr id="426" name="Text 18"/>
          <p:cNvSpPr txBox="1"/>
          <p:nvPr/>
        </p:nvSpPr>
        <p:spPr>
          <a:xfrm>
            <a:off x="6596516" y="3487123"/>
            <a:ext cx="1814053" cy="71881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5B606B"/>
                </a:solidFill>
                <a:latin typeface="Geist"/>
                <a:ea typeface="Geist"/>
                <a:cs typeface="Geist"/>
                <a:sym typeface="Geist"/>
              </a:defRPr>
            </a:lvl1pPr>
          </a:lstStyle>
          <a:p>
            <a:pPr/>
            <a:r>
              <a:t>The TA grades. On submit, the AI grades the same text.</a:t>
            </a:r>
          </a:p>
        </p:txBody>
      </p:sp>
      <p:pic>
        <p:nvPicPr>
          <p:cNvPr id="427" name="Image 2" descr="Image 2"/>
          <p:cNvPicPr>
            <a:picLocks noChangeAspect="1"/>
          </p:cNvPicPr>
          <p:nvPr/>
        </p:nvPicPr>
        <p:blipFill>
          <a:blip r:embed="rId3">
            <a:extLst/>
          </a:blip>
          <a:stretch>
            <a:fillRect/>
          </a:stretch>
        </p:blipFill>
        <p:spPr>
          <a:xfrm>
            <a:off x="8718557" y="3418582"/>
            <a:ext cx="279384" cy="139693"/>
          </a:xfrm>
          <a:prstGeom prst="rect">
            <a:avLst/>
          </a:prstGeom>
          <a:ln w="12700">
            <a:miter lim="400000"/>
          </a:ln>
        </p:spPr>
      </p:pic>
      <p:sp>
        <p:nvSpPr>
          <p:cNvPr id="428" name="Shape 19"/>
          <p:cNvSpPr/>
          <p:nvPr/>
        </p:nvSpPr>
        <p:spPr>
          <a:xfrm>
            <a:off x="9102691" y="2540236"/>
            <a:ext cx="2273367" cy="1896376"/>
          </a:xfrm>
          <a:prstGeom prst="roundRect">
            <a:avLst>
              <a:gd name="adj" fmla="val 10548"/>
            </a:avLst>
          </a:prstGeom>
          <a:solidFill>
            <a:srgbClr val="0E1116">
              <a:alpha val="5000"/>
            </a:srgbClr>
          </a:solidFill>
          <a:ln w="6350">
            <a:solidFill>
              <a:srgbClr val="0E1116">
                <a:alpha val="8000"/>
              </a:srgbClr>
            </a:solidFill>
          </a:ln>
        </p:spPr>
        <p:txBody>
          <a:bodyPr lIns="45719" rIns="45719"/>
          <a:lstStyle/>
          <a:p>
            <a:pPr/>
          </a:p>
        </p:txBody>
      </p:sp>
      <p:sp>
        <p:nvSpPr>
          <p:cNvPr id="429" name="Shape 20"/>
          <p:cNvSpPr/>
          <p:nvPr/>
        </p:nvSpPr>
        <p:spPr>
          <a:xfrm>
            <a:off x="9155575" y="2593119"/>
            <a:ext cx="2167600" cy="1790609"/>
          </a:xfrm>
          <a:prstGeom prst="roundRect">
            <a:avLst>
              <a:gd name="adj" fmla="val 8511"/>
            </a:avLst>
          </a:prstGeom>
          <a:gradFill>
            <a:gsLst>
              <a:gs pos="0">
                <a:srgbClr val="262C3D"/>
              </a:gs>
              <a:gs pos="64999">
                <a:srgbClr val="0E1116"/>
              </a:gs>
            </a:gsLst>
            <a:path path="circle">
              <a:fillToRect l="119636" t="37721" r="-19636" b="62278"/>
            </a:path>
          </a:gradFill>
          <a:ln w="12700">
            <a:miter lim="400000"/>
          </a:ln>
          <a:effectLst>
            <a:outerShdw sx="100000" sy="100000" kx="0" ky="0" algn="b" rotWithShape="0" blurRad="127000" dist="152400" dir="5400000">
              <a:srgbClr val="0E1116">
                <a:alpha val="40000"/>
              </a:srgbClr>
            </a:outerShdw>
          </a:effectLst>
        </p:spPr>
        <p:txBody>
          <a:bodyPr lIns="45719" rIns="45719"/>
          <a:lstStyle/>
          <a:p>
            <a:pPr/>
          </a:p>
        </p:txBody>
      </p:sp>
      <p:sp>
        <p:nvSpPr>
          <p:cNvPr id="430" name="Text 21"/>
          <p:cNvSpPr txBox="1"/>
          <p:nvPr/>
        </p:nvSpPr>
        <p:spPr>
          <a:xfrm>
            <a:off x="9358766" y="2796313"/>
            <a:ext cx="1814053"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E95A3"/>
                </a:solidFill>
                <a:latin typeface="Geist Mono"/>
                <a:ea typeface="Geist Mono"/>
                <a:cs typeface="Geist Mono"/>
                <a:sym typeface="Geist Mono"/>
              </a:defRPr>
            </a:lvl1pPr>
          </a:lstStyle>
          <a:p>
            <a:pPr/>
            <a:r>
              <a:t>04</a:t>
            </a:r>
          </a:p>
        </p:txBody>
      </p:sp>
      <p:sp>
        <p:nvSpPr>
          <p:cNvPr id="431" name="Text 22"/>
          <p:cNvSpPr txBox="1"/>
          <p:nvPr/>
        </p:nvSpPr>
        <p:spPr>
          <a:xfrm>
            <a:off x="9358766" y="3111208"/>
            <a:ext cx="1814053" cy="29974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100"/>
              </a:lnSpc>
              <a:defRPr b="1" spc="-100">
                <a:solidFill>
                  <a:srgbClr val="F2F4F7"/>
                </a:solidFill>
                <a:latin typeface="Geist"/>
                <a:ea typeface="Geist"/>
                <a:cs typeface="Geist"/>
                <a:sym typeface="Geist"/>
              </a:defRPr>
            </a:lvl1pPr>
          </a:lstStyle>
          <a:p>
            <a:pPr/>
            <a:r>
              <a:t>Compare</a:t>
            </a:r>
          </a:p>
        </p:txBody>
      </p:sp>
      <p:sp>
        <p:nvSpPr>
          <p:cNvPr id="432" name="Text 23"/>
          <p:cNvSpPr txBox="1"/>
          <p:nvPr/>
        </p:nvSpPr>
        <p:spPr>
          <a:xfrm>
            <a:off x="9358766" y="3487123"/>
            <a:ext cx="1814053" cy="71881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A6ACB8"/>
                </a:solidFill>
                <a:latin typeface="Geist"/>
                <a:ea typeface="Geist"/>
                <a:cs typeface="Geist"/>
                <a:sym typeface="Geist"/>
              </a:defRPr>
            </a:lvl1pPr>
          </a:lstStyle>
          <a:p>
            <a:pPr/>
            <a:r>
              <a:t>Gaps, flags, course stats and the leaderboard.</a:t>
            </a:r>
          </a:p>
        </p:txBody>
      </p:sp>
      <p:sp>
        <p:nvSpPr>
          <p:cNvPr id="433" name="Shape 24"/>
          <p:cNvSpPr/>
          <p:nvPr/>
        </p:nvSpPr>
        <p:spPr>
          <a:xfrm>
            <a:off x="815941" y="5209387"/>
            <a:ext cx="1760903" cy="362373"/>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34" name="Text 25"/>
          <p:cNvSpPr txBox="1"/>
          <p:nvPr/>
        </p:nvSpPr>
        <p:spPr>
          <a:xfrm>
            <a:off x="970458" y="5275003"/>
            <a:ext cx="1502670" cy="25653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0E1116"/>
                </a:solidFill>
                <a:latin typeface="Geist"/>
                <a:ea typeface="Geist"/>
                <a:cs typeface="Geist"/>
                <a:sym typeface="Geist"/>
              </a:defRPr>
            </a:lvl1pPr>
          </a:lstStyle>
          <a:p>
            <a:pPr/>
            <a:r>
              <a:t>Next.js + shadcn/ui</a:t>
            </a:r>
          </a:p>
        </p:txBody>
      </p:sp>
      <p:sp>
        <p:nvSpPr>
          <p:cNvPr id="435" name="Shape 26"/>
          <p:cNvSpPr/>
          <p:nvPr/>
        </p:nvSpPr>
        <p:spPr>
          <a:xfrm>
            <a:off x="2684767" y="5209387"/>
            <a:ext cx="1802202" cy="362373"/>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36" name="Text 27"/>
          <p:cNvSpPr txBox="1"/>
          <p:nvPr/>
        </p:nvSpPr>
        <p:spPr>
          <a:xfrm>
            <a:off x="2839285" y="5275003"/>
            <a:ext cx="1543969" cy="25653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0E1116"/>
                </a:solidFill>
                <a:latin typeface="Geist"/>
                <a:ea typeface="Geist"/>
                <a:cs typeface="Geist"/>
                <a:sym typeface="Geist"/>
              </a:defRPr>
            </a:lvl1pPr>
          </a:lstStyle>
          <a:p>
            <a:pPr/>
            <a:r>
              <a:t>NestJS + JWT roles</a:t>
            </a:r>
          </a:p>
        </p:txBody>
      </p:sp>
      <p:sp>
        <p:nvSpPr>
          <p:cNvPr id="437" name="Shape 28"/>
          <p:cNvSpPr/>
          <p:nvPr/>
        </p:nvSpPr>
        <p:spPr>
          <a:xfrm>
            <a:off x="4594895" y="5209387"/>
            <a:ext cx="1909978" cy="362373"/>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38" name="Text 29"/>
          <p:cNvSpPr txBox="1"/>
          <p:nvPr/>
        </p:nvSpPr>
        <p:spPr>
          <a:xfrm>
            <a:off x="4749410" y="5275003"/>
            <a:ext cx="1651745" cy="25653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0E1116"/>
                </a:solidFill>
                <a:latin typeface="Geist"/>
                <a:ea typeface="Geist"/>
                <a:cs typeface="Geist"/>
                <a:sym typeface="Geist"/>
              </a:defRPr>
            </a:lvl1pPr>
          </a:lstStyle>
          <a:p>
            <a:pPr/>
            <a:r>
              <a:t>PostgreSQL + Prisma</a:t>
            </a:r>
          </a:p>
        </p:txBody>
      </p:sp>
      <p:sp>
        <p:nvSpPr>
          <p:cNvPr id="439" name="Shape 30"/>
          <p:cNvSpPr/>
          <p:nvPr/>
        </p:nvSpPr>
        <p:spPr>
          <a:xfrm>
            <a:off x="6612797" y="5209387"/>
            <a:ext cx="2210818" cy="362373"/>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40" name="Text 31"/>
          <p:cNvSpPr txBox="1"/>
          <p:nvPr/>
        </p:nvSpPr>
        <p:spPr>
          <a:xfrm>
            <a:off x="6767314" y="5275003"/>
            <a:ext cx="1958838" cy="25653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0E1116"/>
                </a:solidFill>
                <a:latin typeface="Geist"/>
                <a:ea typeface="Geist"/>
                <a:cs typeface="Geist"/>
                <a:sym typeface="Geist"/>
              </a:defRPr>
            </a:lvl1pPr>
          </a:lstStyle>
          <a:p>
            <a:pPr/>
            <a:r>
              <a:t>Vision LLM, backend only</a:t>
            </a:r>
          </a:p>
        </p:txBody>
      </p:sp>
      <p:sp>
        <p:nvSpPr>
          <p:cNvPr id="441" name="Shape 32"/>
          <p:cNvSpPr/>
          <p:nvPr/>
        </p:nvSpPr>
        <p:spPr>
          <a:xfrm>
            <a:off x="815941" y="5679683"/>
            <a:ext cx="2592686" cy="362373"/>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42" name="Text 33"/>
          <p:cNvSpPr txBox="1"/>
          <p:nvPr/>
        </p:nvSpPr>
        <p:spPr>
          <a:xfrm>
            <a:off x="970458" y="5745300"/>
            <a:ext cx="2352163" cy="25653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sz="1300">
                <a:solidFill>
                  <a:srgbClr val="0E1116"/>
                </a:solidFill>
                <a:latin typeface="Geist"/>
                <a:ea typeface="Geist"/>
                <a:cs typeface="Geist"/>
                <a:sym typeface="Geist"/>
              </a:defRPr>
            </a:lvl1pPr>
          </a:lstStyle>
          <a:p>
            <a:pPr/>
            <a:r>
              <a:t>Background worker for AI jobs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32A3A"/>
        </a:solidFill>
      </p:bgPr>
    </p:bg>
    <p:spTree>
      <p:nvGrpSpPr>
        <p:cNvPr id="1" name=""/>
        <p:cNvGrpSpPr/>
        <p:nvPr/>
      </p:nvGrpSpPr>
      <p:grpSpPr>
        <a:xfrm>
          <a:off x="0" y="0"/>
          <a:ext cx="0" cy="0"/>
          <a:chOff x="0" y="0"/>
          <a:chExt cx="0" cy="0"/>
        </a:xfrm>
      </p:grpSpPr>
      <p:sp>
        <p:nvSpPr>
          <p:cNvPr id="446" name="Shape 0"/>
          <p:cNvSpPr/>
          <p:nvPr/>
        </p:nvSpPr>
        <p:spPr>
          <a:xfrm>
            <a:off x="0" y="0"/>
            <a:ext cx="12192000" cy="6858000"/>
          </a:xfrm>
          <a:prstGeom prst="rect">
            <a:avLst/>
          </a:prstGeom>
          <a:gradFill>
            <a:gsLst>
              <a:gs pos="0">
                <a:srgbClr val="232A3A"/>
              </a:gs>
              <a:gs pos="60000">
                <a:srgbClr val="0E1116"/>
              </a:gs>
            </a:gsLst>
            <a:path path="circle">
              <a:fillToRect l="119636" t="37721" r="-19636" b="62278"/>
            </a:path>
          </a:gradFill>
          <a:ln w="12700">
            <a:miter lim="400000"/>
          </a:ln>
        </p:spPr>
        <p:txBody>
          <a:bodyPr lIns="45719" rIns="45719"/>
          <a:lstStyle/>
          <a:p>
            <a:pPr/>
          </a:p>
        </p:txBody>
      </p:sp>
      <p:sp>
        <p:nvSpPr>
          <p:cNvPr id="447" name="Text 1"/>
          <p:cNvSpPr txBox="1"/>
          <p:nvPr/>
        </p:nvSpPr>
        <p:spPr>
          <a:xfrm>
            <a:off x="812767" y="1027490"/>
            <a:ext cx="1084082" cy="162559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defTabSz="877823">
              <a:lnSpc>
                <a:spcPts val="12000"/>
              </a:lnSpc>
              <a:defRPr b="1" spc="-576" sz="13439">
                <a:solidFill>
                  <a:srgbClr val="E3A848"/>
                </a:solidFill>
                <a:latin typeface="Geist"/>
                <a:ea typeface="Geist"/>
                <a:cs typeface="Geist"/>
                <a:sym typeface="Geist"/>
              </a:defRPr>
            </a:lvl1pPr>
          </a:lstStyle>
          <a:p>
            <a:pPr/>
            <a:r>
              <a:t>4</a:t>
            </a:r>
          </a:p>
        </p:txBody>
      </p:sp>
      <p:sp>
        <p:nvSpPr>
          <p:cNvPr id="448" name="Shape 2"/>
          <p:cNvSpPr/>
          <p:nvPr/>
        </p:nvSpPr>
        <p:spPr>
          <a:xfrm>
            <a:off x="2204797" y="815937"/>
            <a:ext cx="1538404" cy="293705"/>
          </a:xfrm>
          <a:prstGeom prst="roundRect">
            <a:avLst>
              <a:gd name="adj" fmla="val 50000"/>
            </a:avLst>
          </a:prstGeom>
          <a:solidFill>
            <a:srgbClr val="FFFFFF">
              <a:alpha val="6000"/>
            </a:srgbClr>
          </a:solidFill>
          <a:ln w="6350">
            <a:solidFill>
              <a:srgbClr val="FFFFFF">
                <a:alpha val="12000"/>
              </a:srgbClr>
            </a:solidFill>
          </a:ln>
        </p:spPr>
        <p:txBody>
          <a:bodyPr lIns="45719" rIns="45719"/>
          <a:lstStyle/>
          <a:p>
            <a:pPr/>
          </a:p>
        </p:txBody>
      </p:sp>
      <p:sp>
        <p:nvSpPr>
          <p:cNvPr id="449" name="Text 3"/>
          <p:cNvSpPr txBox="1"/>
          <p:nvPr/>
        </p:nvSpPr>
        <p:spPr>
          <a:xfrm>
            <a:off x="2431958" y="843454"/>
            <a:ext cx="1084082"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A6ACB8"/>
                </a:solidFill>
                <a:latin typeface="Geist Mono"/>
                <a:ea typeface="Geist Mono"/>
                <a:cs typeface="Geist Mono"/>
                <a:sym typeface="Geist Mono"/>
              </a:defRPr>
            </a:lvl1pPr>
          </a:lstStyle>
          <a:p>
            <a:pPr/>
            <a:r>
              <a:t>Why it matters</a:t>
            </a:r>
          </a:p>
        </p:txBody>
      </p:sp>
      <p:sp>
        <p:nvSpPr>
          <p:cNvPr id="450" name="Text 4"/>
          <p:cNvSpPr txBox="1"/>
          <p:nvPr/>
        </p:nvSpPr>
        <p:spPr>
          <a:xfrm>
            <a:off x="2201622" y="1239818"/>
            <a:ext cx="7194551" cy="9854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700"/>
              </a:lnSpc>
              <a:defRPr b="1" spc="-200" sz="3600">
                <a:solidFill>
                  <a:srgbClr val="F2F4F7"/>
                </a:solidFill>
                <a:latin typeface="Geist"/>
                <a:ea typeface="Geist"/>
                <a:cs typeface="Geist"/>
                <a:sym typeface="Geist"/>
              </a:defRPr>
            </a:lvl1pPr>
          </a:lstStyle>
          <a:p>
            <a:pPr/>
            <a:r>
              <a:t>papers where pass or fail depends on who graded.</a:t>
            </a:r>
          </a:p>
        </p:txBody>
      </p:sp>
      <p:sp>
        <p:nvSpPr>
          <p:cNvPr id="451" name="Text 5"/>
          <p:cNvSpPr txBox="1"/>
          <p:nvPr/>
        </p:nvSpPr>
        <p:spPr>
          <a:xfrm>
            <a:off x="2201622" y="2326840"/>
            <a:ext cx="9452941"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A6ACB8"/>
                </a:solidFill>
                <a:latin typeface="Geist"/>
                <a:ea typeface="Geist"/>
                <a:cs typeface="Geist"/>
                <a:sym typeface="Geist"/>
              </a:defRPr>
            </a:lvl1pPr>
          </a:lstStyle>
          <a:p>
            <a:pPr/>
            <a:r>
              <a:t>In our demo course of 167 papers: 3 fail with the TA's grade but pass with the AI's, 1 the other way. Fair Grade finds them before grades are published.</a:t>
            </a:r>
          </a:p>
        </p:txBody>
      </p:sp>
      <p:sp>
        <p:nvSpPr>
          <p:cNvPr id="452" name="Shape 6"/>
          <p:cNvSpPr/>
          <p:nvPr/>
        </p:nvSpPr>
        <p:spPr>
          <a:xfrm>
            <a:off x="812767" y="4653886"/>
            <a:ext cx="3285091" cy="1"/>
          </a:xfrm>
          <a:prstGeom prst="line">
            <a:avLst/>
          </a:prstGeom>
          <a:ln w="6350">
            <a:solidFill>
              <a:srgbClr val="FFFFFF">
                <a:alpha val="16000"/>
              </a:srgbClr>
            </a:solidFill>
          </a:ln>
        </p:spPr>
        <p:txBody>
          <a:bodyPr lIns="45719" rIns="45719"/>
          <a:lstStyle/>
          <a:p>
            <a:pPr/>
          </a:p>
        </p:txBody>
      </p:sp>
      <p:sp>
        <p:nvSpPr>
          <p:cNvPr id="453" name="Text 7"/>
          <p:cNvSpPr txBox="1"/>
          <p:nvPr/>
        </p:nvSpPr>
        <p:spPr>
          <a:xfrm>
            <a:off x="812766" y="4833770"/>
            <a:ext cx="3383645"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E95A3"/>
                </a:solidFill>
                <a:latin typeface="Geist Mono"/>
                <a:ea typeface="Geist Mono"/>
                <a:cs typeface="Geist Mono"/>
                <a:sym typeface="Geist Mono"/>
              </a:defRPr>
            </a:lvl1pPr>
          </a:lstStyle>
          <a:p>
            <a:pPr/>
            <a:r>
              <a:t>01</a:t>
            </a:r>
          </a:p>
        </p:txBody>
      </p:sp>
      <p:sp>
        <p:nvSpPr>
          <p:cNvPr id="454" name="Text 8"/>
          <p:cNvSpPr txBox="1"/>
          <p:nvPr/>
        </p:nvSpPr>
        <p:spPr>
          <a:xfrm>
            <a:off x="812766" y="5135972"/>
            <a:ext cx="3383645" cy="330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pc="-100" sz="2000">
                <a:solidFill>
                  <a:srgbClr val="F2F4F7"/>
                </a:solidFill>
                <a:latin typeface="Geist"/>
                <a:ea typeface="Geist"/>
                <a:cs typeface="Geist"/>
                <a:sym typeface="Geist"/>
              </a:defRPr>
            </a:lvl1pPr>
          </a:lstStyle>
          <a:p>
            <a:pPr/>
            <a:r>
              <a:t>Fairness</a:t>
            </a:r>
          </a:p>
        </p:txBody>
      </p:sp>
      <p:sp>
        <p:nvSpPr>
          <p:cNvPr id="455" name="Text 9"/>
          <p:cNvSpPr txBox="1"/>
          <p:nvPr/>
        </p:nvSpPr>
        <p:spPr>
          <a:xfrm>
            <a:off x="812766" y="5529622"/>
            <a:ext cx="3383645"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A6ACB8"/>
                </a:solidFill>
                <a:latin typeface="Geist"/>
                <a:ea typeface="Geist"/>
                <a:cs typeface="Geist"/>
                <a:sym typeface="Geist"/>
              </a:defRPr>
            </a:lvl1pPr>
          </a:lstStyle>
          <a:p>
            <a:pPr/>
            <a:r>
              <a:t>Every student is judged by the same standard, whoever holds the pen.</a:t>
            </a:r>
          </a:p>
        </p:txBody>
      </p:sp>
      <p:sp>
        <p:nvSpPr>
          <p:cNvPr id="456" name="Shape 10"/>
          <p:cNvSpPr/>
          <p:nvPr/>
        </p:nvSpPr>
        <p:spPr>
          <a:xfrm>
            <a:off x="4453433" y="4653886"/>
            <a:ext cx="3285134" cy="1"/>
          </a:xfrm>
          <a:prstGeom prst="line">
            <a:avLst/>
          </a:prstGeom>
          <a:ln w="6350">
            <a:solidFill>
              <a:srgbClr val="FFFFFF">
                <a:alpha val="16000"/>
              </a:srgbClr>
            </a:solidFill>
          </a:ln>
        </p:spPr>
        <p:txBody>
          <a:bodyPr lIns="45719" rIns="45719"/>
          <a:lstStyle/>
          <a:p>
            <a:pPr/>
          </a:p>
        </p:txBody>
      </p:sp>
      <p:sp>
        <p:nvSpPr>
          <p:cNvPr id="457" name="Text 11"/>
          <p:cNvSpPr txBox="1"/>
          <p:nvPr/>
        </p:nvSpPr>
        <p:spPr>
          <a:xfrm>
            <a:off x="4453433" y="4833770"/>
            <a:ext cx="3383688"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E95A3"/>
                </a:solidFill>
                <a:latin typeface="Geist Mono"/>
                <a:ea typeface="Geist Mono"/>
                <a:cs typeface="Geist Mono"/>
                <a:sym typeface="Geist Mono"/>
              </a:defRPr>
            </a:lvl1pPr>
          </a:lstStyle>
          <a:p>
            <a:pPr/>
            <a:r>
              <a:t>02</a:t>
            </a:r>
          </a:p>
        </p:txBody>
      </p:sp>
      <p:sp>
        <p:nvSpPr>
          <p:cNvPr id="458" name="Text 12"/>
          <p:cNvSpPr txBox="1"/>
          <p:nvPr/>
        </p:nvSpPr>
        <p:spPr>
          <a:xfrm>
            <a:off x="4453433" y="5135972"/>
            <a:ext cx="3383688" cy="330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pc="-100" sz="2000">
                <a:solidFill>
                  <a:srgbClr val="F2F4F7"/>
                </a:solidFill>
                <a:latin typeface="Geist"/>
                <a:ea typeface="Geist"/>
                <a:cs typeface="Geist"/>
                <a:sym typeface="Geist"/>
              </a:defRPr>
            </a:lvl1pPr>
          </a:lstStyle>
          <a:p>
            <a:pPr/>
            <a:r>
              <a:t>Transparency</a:t>
            </a:r>
          </a:p>
        </p:txBody>
      </p:sp>
      <p:sp>
        <p:nvSpPr>
          <p:cNvPr id="459" name="Text 13"/>
          <p:cNvSpPr txBox="1"/>
          <p:nvPr/>
        </p:nvSpPr>
        <p:spPr>
          <a:xfrm>
            <a:off x="4453433" y="5529622"/>
            <a:ext cx="3383688"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A6ACB8"/>
                </a:solidFill>
                <a:latin typeface="Geist"/>
                <a:ea typeface="Geist"/>
                <a:cs typeface="Geist"/>
                <a:sym typeface="Geist"/>
              </a:defRPr>
            </a:lvl1pPr>
          </a:lstStyle>
          <a:p>
            <a:pPr/>
            <a:r>
              <a:t>A vague suspicion becomes a measurable, explainable report.</a:t>
            </a:r>
          </a:p>
        </p:txBody>
      </p:sp>
      <p:sp>
        <p:nvSpPr>
          <p:cNvPr id="460" name="Shape 14"/>
          <p:cNvSpPr/>
          <p:nvPr/>
        </p:nvSpPr>
        <p:spPr>
          <a:xfrm>
            <a:off x="8094142" y="4653886"/>
            <a:ext cx="3285092" cy="1"/>
          </a:xfrm>
          <a:prstGeom prst="line">
            <a:avLst/>
          </a:prstGeom>
          <a:ln w="6350">
            <a:solidFill>
              <a:srgbClr val="FFFFFF">
                <a:alpha val="16000"/>
              </a:srgbClr>
            </a:solidFill>
          </a:ln>
        </p:spPr>
        <p:txBody>
          <a:bodyPr lIns="45719" rIns="45719"/>
          <a:lstStyle/>
          <a:p>
            <a:pPr/>
          </a:p>
        </p:txBody>
      </p:sp>
      <p:sp>
        <p:nvSpPr>
          <p:cNvPr id="461" name="Text 15"/>
          <p:cNvSpPr txBox="1"/>
          <p:nvPr/>
        </p:nvSpPr>
        <p:spPr>
          <a:xfrm>
            <a:off x="8094142" y="4833770"/>
            <a:ext cx="3383644" cy="23872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8E95A3"/>
                </a:solidFill>
                <a:latin typeface="Geist Mono"/>
                <a:ea typeface="Geist Mono"/>
                <a:cs typeface="Geist Mono"/>
                <a:sym typeface="Geist Mono"/>
              </a:defRPr>
            </a:lvl1pPr>
          </a:lstStyle>
          <a:p>
            <a:pPr/>
            <a:r>
              <a:t>03</a:t>
            </a:r>
          </a:p>
        </p:txBody>
      </p:sp>
      <p:sp>
        <p:nvSpPr>
          <p:cNvPr id="462" name="Text 16"/>
          <p:cNvSpPr txBox="1"/>
          <p:nvPr/>
        </p:nvSpPr>
        <p:spPr>
          <a:xfrm>
            <a:off x="8094142" y="5135972"/>
            <a:ext cx="3383644" cy="33016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400"/>
              </a:lnSpc>
              <a:defRPr b="1" spc="-100" sz="2000">
                <a:solidFill>
                  <a:srgbClr val="F2F4F7"/>
                </a:solidFill>
                <a:latin typeface="Geist"/>
                <a:ea typeface="Geist"/>
                <a:cs typeface="Geist"/>
                <a:sym typeface="Geist"/>
              </a:defRPr>
            </a:lvl1pPr>
          </a:lstStyle>
          <a:p>
            <a:pPr/>
            <a:r>
              <a:t>Fewer disputes</a:t>
            </a:r>
          </a:p>
        </p:txBody>
      </p:sp>
      <p:sp>
        <p:nvSpPr>
          <p:cNvPr id="463" name="Text 17"/>
          <p:cNvSpPr txBox="1"/>
          <p:nvPr/>
        </p:nvSpPr>
        <p:spPr>
          <a:xfrm>
            <a:off x="8094142" y="5529622"/>
            <a:ext cx="3383644" cy="541008"/>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000"/>
              </a:lnSpc>
              <a:defRPr sz="1400">
                <a:solidFill>
                  <a:srgbClr val="A6ACB8"/>
                </a:solidFill>
                <a:latin typeface="Geist"/>
                <a:ea typeface="Geist"/>
                <a:cs typeface="Geist"/>
                <a:sym typeface="Geist"/>
              </a:defRPr>
            </a:lvl1pPr>
          </a:lstStyle>
          <a:p>
            <a:pPr/>
            <a:r>
              <a:t>Inconsistencies are fixed before grades go out, not after complaints.</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467"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468" name="Shape 1"/>
          <p:cNvSpPr/>
          <p:nvPr/>
        </p:nvSpPr>
        <p:spPr>
          <a:xfrm>
            <a:off x="714367" y="978700"/>
            <a:ext cx="1995596" cy="293705"/>
          </a:xfrm>
          <a:prstGeom prst="roundRect">
            <a:avLst>
              <a:gd name="adj" fmla="val 50000"/>
            </a:avLst>
          </a:prstGeom>
          <a:solidFill>
            <a:srgbClr val="FCFCFD"/>
          </a:solidFill>
          <a:ln w="6350">
            <a:solidFill>
              <a:srgbClr val="0E1116">
                <a:alpha val="10000"/>
              </a:srgbClr>
            </a:solidFill>
          </a:ln>
        </p:spPr>
        <p:txBody>
          <a:bodyPr lIns="45719" rIns="45719"/>
          <a:lstStyle/>
          <a:p>
            <a:pPr/>
          </a:p>
        </p:txBody>
      </p:sp>
      <p:sp>
        <p:nvSpPr>
          <p:cNvPr id="469" name="Text 2"/>
          <p:cNvSpPr txBox="1"/>
          <p:nvPr/>
        </p:nvSpPr>
        <p:spPr>
          <a:xfrm>
            <a:off x="956302" y="1006216"/>
            <a:ext cx="1511725"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Mono"/>
                <a:ea typeface="Geist Mono"/>
                <a:cs typeface="Geist Mono"/>
                <a:sym typeface="Geist Mono"/>
              </a:defRPr>
            </a:lvl1pPr>
          </a:lstStyle>
          <a:p>
            <a:pPr/>
            <a:r>
              <a:t>Q&amp;A, before you ask</a:t>
            </a:r>
          </a:p>
        </p:txBody>
      </p:sp>
      <p:sp>
        <p:nvSpPr>
          <p:cNvPr id="470" name="Text 3"/>
          <p:cNvSpPr txBox="1"/>
          <p:nvPr/>
        </p:nvSpPr>
        <p:spPr>
          <a:xfrm>
            <a:off x="711191" y="1427961"/>
            <a:ext cx="7194978" cy="47878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500"/>
              </a:lnSpc>
              <a:defRPr b="1" spc="-200" sz="3400">
                <a:solidFill>
                  <a:srgbClr val="0E1116"/>
                </a:solidFill>
                <a:latin typeface="Geist"/>
                <a:ea typeface="Geist"/>
                <a:cs typeface="Geist"/>
                <a:sym typeface="Geist"/>
              </a:defRPr>
            </a:lvl1pPr>
          </a:lstStyle>
          <a:p>
            <a:pPr/>
            <a:r>
              <a:t>We're sure you have these questions</a:t>
            </a:r>
          </a:p>
        </p:txBody>
      </p:sp>
      <p:sp>
        <p:nvSpPr>
          <p:cNvPr id="471" name="Shape 4"/>
          <p:cNvSpPr/>
          <p:nvPr/>
        </p:nvSpPr>
        <p:spPr>
          <a:xfrm>
            <a:off x="714367" y="2163910"/>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72" name="Shape 5"/>
          <p:cNvSpPr/>
          <p:nvPr/>
        </p:nvSpPr>
        <p:spPr>
          <a:xfrm>
            <a:off x="767250" y="2216794"/>
            <a:ext cx="5209191"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73" name="Image 0" descr="Image 0"/>
          <p:cNvPicPr>
            <a:picLocks noChangeAspect="1"/>
          </p:cNvPicPr>
          <p:nvPr/>
        </p:nvPicPr>
        <p:blipFill>
          <a:blip r:embed="rId3">
            <a:extLst/>
          </a:blip>
          <a:stretch>
            <a:fillRect/>
          </a:stretch>
        </p:blipFill>
        <p:spPr>
          <a:xfrm>
            <a:off x="957749" y="2381869"/>
            <a:ext cx="228576" cy="228576"/>
          </a:xfrm>
          <a:prstGeom prst="rect">
            <a:avLst/>
          </a:prstGeom>
          <a:ln w="12700">
            <a:miter lim="400000"/>
          </a:ln>
        </p:spPr>
      </p:pic>
      <p:sp>
        <p:nvSpPr>
          <p:cNvPr id="474" name="Text 6"/>
          <p:cNvSpPr txBox="1"/>
          <p:nvPr/>
        </p:nvSpPr>
        <p:spPr>
          <a:xfrm>
            <a:off x="1326017" y="2381869"/>
            <a:ext cx="4593722" cy="2616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What if the AI is wrong?</a:t>
            </a:r>
          </a:p>
        </p:txBody>
      </p:sp>
      <p:sp>
        <p:nvSpPr>
          <p:cNvPr id="475" name="Text 7"/>
          <p:cNvSpPr txBox="1"/>
          <p:nvPr/>
        </p:nvSpPr>
        <p:spPr>
          <a:xfrm>
            <a:off x="1326017" y="2668859"/>
            <a:ext cx="4593722"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It's a shared yardstick, not the truth. Every score shows its reasoning and the instructor decides.</a:t>
            </a:r>
          </a:p>
        </p:txBody>
      </p:sp>
      <p:sp>
        <p:nvSpPr>
          <p:cNvPr id="476" name="Shape 8"/>
          <p:cNvSpPr/>
          <p:nvPr/>
        </p:nvSpPr>
        <p:spPr>
          <a:xfrm>
            <a:off x="6162675" y="2163910"/>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77" name="Shape 9"/>
          <p:cNvSpPr/>
          <p:nvPr/>
        </p:nvSpPr>
        <p:spPr>
          <a:xfrm>
            <a:off x="6215558" y="2216794"/>
            <a:ext cx="5209192"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78" name="Image 1" descr="Image 1"/>
          <p:cNvPicPr>
            <a:picLocks noChangeAspect="1"/>
          </p:cNvPicPr>
          <p:nvPr/>
        </p:nvPicPr>
        <p:blipFill>
          <a:blip r:embed="rId4">
            <a:extLst/>
          </a:blip>
          <a:stretch>
            <a:fillRect/>
          </a:stretch>
        </p:blipFill>
        <p:spPr>
          <a:xfrm>
            <a:off x="6406058" y="2381869"/>
            <a:ext cx="228576" cy="228576"/>
          </a:xfrm>
          <a:prstGeom prst="rect">
            <a:avLst/>
          </a:prstGeom>
          <a:ln w="12700">
            <a:miter lim="400000"/>
          </a:ln>
        </p:spPr>
      </p:pic>
      <p:sp>
        <p:nvSpPr>
          <p:cNvPr id="479" name="Text 10"/>
          <p:cNvSpPr txBox="1"/>
          <p:nvPr/>
        </p:nvSpPr>
        <p:spPr>
          <a:xfrm>
            <a:off x="6774325" y="2381869"/>
            <a:ext cx="4593723" cy="2616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Why not compare TAs with each other?</a:t>
            </a:r>
          </a:p>
        </p:txBody>
      </p:sp>
      <p:sp>
        <p:nvSpPr>
          <p:cNvPr id="480" name="Text 11"/>
          <p:cNvSpPr txBox="1"/>
          <p:nvPr/>
        </p:nvSpPr>
        <p:spPr>
          <a:xfrm>
            <a:off x="6774325" y="2668859"/>
            <a:ext cx="4593723"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Each TA grades different papers. The AI grades all of them, so it's the one baseline they share.</a:t>
            </a:r>
          </a:p>
        </p:txBody>
      </p:sp>
      <p:sp>
        <p:nvSpPr>
          <p:cNvPr id="481" name="Shape 12"/>
          <p:cNvSpPr/>
          <p:nvPr/>
        </p:nvSpPr>
        <p:spPr>
          <a:xfrm>
            <a:off x="714367" y="3446810"/>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82" name="Shape 13"/>
          <p:cNvSpPr/>
          <p:nvPr/>
        </p:nvSpPr>
        <p:spPr>
          <a:xfrm>
            <a:off x="767250" y="3499692"/>
            <a:ext cx="5209191"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83" name="Image 2" descr="Image 2"/>
          <p:cNvPicPr>
            <a:picLocks noChangeAspect="1"/>
          </p:cNvPicPr>
          <p:nvPr/>
        </p:nvPicPr>
        <p:blipFill>
          <a:blip r:embed="rId5">
            <a:extLst/>
          </a:blip>
          <a:stretch>
            <a:fillRect/>
          </a:stretch>
        </p:blipFill>
        <p:spPr>
          <a:xfrm>
            <a:off x="957749" y="3664768"/>
            <a:ext cx="228576" cy="228576"/>
          </a:xfrm>
          <a:prstGeom prst="rect">
            <a:avLst/>
          </a:prstGeom>
          <a:ln w="12700">
            <a:miter lim="400000"/>
          </a:ln>
        </p:spPr>
      </p:pic>
      <p:sp>
        <p:nvSpPr>
          <p:cNvPr id="484" name="Text 14"/>
          <p:cNvSpPr txBox="1"/>
          <p:nvPr/>
        </p:nvSpPr>
        <p:spPr>
          <a:xfrm>
            <a:off x="1326017" y="3664768"/>
            <a:ext cx="4593722" cy="2616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What does the AI get to see?</a:t>
            </a:r>
          </a:p>
        </p:txBody>
      </p:sp>
      <p:sp>
        <p:nvSpPr>
          <p:cNvPr id="485" name="Text 15"/>
          <p:cNvSpPr txBox="1"/>
          <p:nvPr/>
        </p:nvSpPr>
        <p:spPr>
          <a:xfrm>
            <a:off x="1326017" y="3951759"/>
            <a:ext cx="4593722"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Question, model answer, rubric and the transcribed text. Never names, student IDs or TA grades.</a:t>
            </a:r>
          </a:p>
        </p:txBody>
      </p:sp>
      <p:sp>
        <p:nvSpPr>
          <p:cNvPr id="486" name="Shape 16"/>
          <p:cNvSpPr/>
          <p:nvPr/>
        </p:nvSpPr>
        <p:spPr>
          <a:xfrm>
            <a:off x="6162675" y="3446810"/>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87" name="Shape 17"/>
          <p:cNvSpPr/>
          <p:nvPr/>
        </p:nvSpPr>
        <p:spPr>
          <a:xfrm>
            <a:off x="6215558" y="3499692"/>
            <a:ext cx="5209192"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88" name="Image 3" descr="Image 3"/>
          <p:cNvPicPr>
            <a:picLocks noChangeAspect="1"/>
          </p:cNvPicPr>
          <p:nvPr/>
        </p:nvPicPr>
        <p:blipFill>
          <a:blip r:embed="rId6">
            <a:extLst/>
          </a:blip>
          <a:stretch>
            <a:fillRect/>
          </a:stretch>
        </p:blipFill>
        <p:spPr>
          <a:xfrm>
            <a:off x="6406058" y="3664768"/>
            <a:ext cx="228576" cy="228576"/>
          </a:xfrm>
          <a:prstGeom prst="rect">
            <a:avLst/>
          </a:prstGeom>
          <a:ln w="12700">
            <a:miter lim="400000"/>
          </a:ln>
        </p:spPr>
      </p:pic>
      <p:sp>
        <p:nvSpPr>
          <p:cNvPr id="489" name="Text 18"/>
          <p:cNvSpPr txBox="1"/>
          <p:nvPr/>
        </p:nvSpPr>
        <p:spPr>
          <a:xfrm>
            <a:off x="6774325" y="3664768"/>
            <a:ext cx="4593723" cy="2616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Doesn't one bad grade trigger a flag?</a:t>
            </a:r>
          </a:p>
        </p:txBody>
      </p:sp>
      <p:sp>
        <p:nvSpPr>
          <p:cNvPr id="490" name="Text 19"/>
          <p:cNvSpPr txBox="1"/>
          <p:nvPr/>
        </p:nvSpPr>
        <p:spPr>
          <a:xfrm>
            <a:off x="6774325" y="3951759"/>
            <a:ext cx="4593723"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No. A flag needs a gap beyond 15% of the question's points, over at least 3 papers.</a:t>
            </a:r>
          </a:p>
        </p:txBody>
      </p:sp>
      <p:sp>
        <p:nvSpPr>
          <p:cNvPr id="491" name="Shape 20"/>
          <p:cNvSpPr/>
          <p:nvPr/>
        </p:nvSpPr>
        <p:spPr>
          <a:xfrm>
            <a:off x="714367" y="4729707"/>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92" name="Shape 21"/>
          <p:cNvSpPr/>
          <p:nvPr/>
        </p:nvSpPr>
        <p:spPr>
          <a:xfrm>
            <a:off x="767250" y="4782592"/>
            <a:ext cx="5209191"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93" name="Image 4" descr="Image 4"/>
          <p:cNvPicPr>
            <a:picLocks noChangeAspect="1"/>
          </p:cNvPicPr>
          <p:nvPr/>
        </p:nvPicPr>
        <p:blipFill>
          <a:blip r:embed="rId7">
            <a:extLst/>
          </a:blip>
          <a:stretch>
            <a:fillRect/>
          </a:stretch>
        </p:blipFill>
        <p:spPr>
          <a:xfrm>
            <a:off x="957749" y="4947666"/>
            <a:ext cx="228576" cy="228576"/>
          </a:xfrm>
          <a:prstGeom prst="rect">
            <a:avLst/>
          </a:prstGeom>
          <a:ln w="12700">
            <a:miter lim="400000"/>
          </a:ln>
        </p:spPr>
      </p:pic>
      <p:sp>
        <p:nvSpPr>
          <p:cNvPr id="494" name="Text 22"/>
          <p:cNvSpPr txBox="1"/>
          <p:nvPr/>
        </p:nvSpPr>
        <p:spPr>
          <a:xfrm>
            <a:off x="1326017" y="4947666"/>
            <a:ext cx="4593722" cy="26162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What about messy handwriting?</a:t>
            </a:r>
          </a:p>
        </p:txBody>
      </p:sp>
      <p:sp>
        <p:nvSpPr>
          <p:cNvPr id="495" name="Text 23"/>
          <p:cNvSpPr txBox="1"/>
          <p:nvPr/>
        </p:nvSpPr>
        <p:spPr>
          <a:xfrm>
            <a:off x="1326017" y="5234656"/>
            <a:ext cx="4593722"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Words the vision model is unsure of are highlighted. The TA fixes them before grading.</a:t>
            </a:r>
          </a:p>
        </p:txBody>
      </p:sp>
      <p:sp>
        <p:nvSpPr>
          <p:cNvPr id="496" name="Shape 24"/>
          <p:cNvSpPr/>
          <p:nvPr/>
        </p:nvSpPr>
        <p:spPr>
          <a:xfrm>
            <a:off x="6162675" y="4729707"/>
            <a:ext cx="5314959" cy="1149549"/>
          </a:xfrm>
          <a:prstGeom prst="roundRect">
            <a:avLst>
              <a:gd name="adj" fmla="val 17400"/>
            </a:avLst>
          </a:prstGeom>
          <a:solidFill>
            <a:srgbClr val="0E1116">
              <a:alpha val="3000"/>
            </a:srgbClr>
          </a:solidFill>
          <a:ln w="6350">
            <a:solidFill>
              <a:srgbClr val="0E1116">
                <a:alpha val="6000"/>
              </a:srgbClr>
            </a:solidFill>
          </a:ln>
        </p:spPr>
        <p:txBody>
          <a:bodyPr lIns="45719" rIns="45719"/>
          <a:lstStyle/>
          <a:p>
            <a:pPr/>
          </a:p>
        </p:txBody>
      </p:sp>
      <p:sp>
        <p:nvSpPr>
          <p:cNvPr id="497" name="Shape 25"/>
          <p:cNvSpPr/>
          <p:nvPr/>
        </p:nvSpPr>
        <p:spPr>
          <a:xfrm>
            <a:off x="6215558" y="4782592"/>
            <a:ext cx="5209192" cy="1043782"/>
          </a:xfrm>
          <a:prstGeom prst="roundRect">
            <a:avLst>
              <a:gd name="adj" fmla="val 14601"/>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pic>
        <p:nvPicPr>
          <p:cNvPr id="498" name="Image 5" descr="Image 5"/>
          <p:cNvPicPr>
            <a:picLocks noChangeAspect="1"/>
          </p:cNvPicPr>
          <p:nvPr/>
        </p:nvPicPr>
        <p:blipFill>
          <a:blip r:embed="rId8">
            <a:extLst/>
          </a:blip>
          <a:stretch>
            <a:fillRect/>
          </a:stretch>
        </p:blipFill>
        <p:spPr>
          <a:xfrm>
            <a:off x="6406058" y="4947666"/>
            <a:ext cx="228576" cy="228576"/>
          </a:xfrm>
          <a:prstGeom prst="rect">
            <a:avLst/>
          </a:prstGeom>
          <a:ln w="12700">
            <a:miter lim="400000"/>
          </a:ln>
        </p:spPr>
      </p:pic>
      <p:sp>
        <p:nvSpPr>
          <p:cNvPr id="499" name="Text 26"/>
          <p:cNvSpPr txBox="1"/>
          <p:nvPr/>
        </p:nvSpPr>
        <p:spPr>
          <a:xfrm>
            <a:off x="6774325" y="4947666"/>
            <a:ext cx="4593723" cy="26162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800"/>
              </a:lnSpc>
              <a:defRPr b="1" spc="-100" sz="1500">
                <a:solidFill>
                  <a:srgbClr val="0E1116"/>
                </a:solidFill>
                <a:latin typeface="Geist"/>
                <a:ea typeface="Geist"/>
                <a:cs typeface="Geist"/>
                <a:sym typeface="Geist"/>
              </a:defRPr>
            </a:lvl1pPr>
          </a:lstStyle>
          <a:p>
            <a:pPr/>
            <a:r>
              <a:t>Can the AI grade sway the TA?</a:t>
            </a:r>
          </a:p>
        </p:txBody>
      </p:sp>
      <p:sp>
        <p:nvSpPr>
          <p:cNvPr id="500" name="Text 27"/>
          <p:cNvSpPr txBox="1"/>
          <p:nvPr/>
        </p:nvSpPr>
        <p:spPr>
          <a:xfrm>
            <a:off x="6774325" y="5234656"/>
            <a:ext cx="4593723" cy="45204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1600"/>
              </a:lnSpc>
              <a:defRPr sz="1200">
                <a:solidFill>
                  <a:srgbClr val="5B606B"/>
                </a:solidFill>
                <a:latin typeface="Geist"/>
                <a:ea typeface="Geist"/>
                <a:cs typeface="Geist"/>
                <a:sym typeface="Geist"/>
              </a:defRPr>
            </a:lvl1pPr>
          </a:lstStyle>
          <a:p>
            <a:pPr/>
            <a:r>
              <a:t>No. The TA sees it only after submitting, and by then the grade is locked.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504" name="Shape 0"/>
          <p:cNvSpPr/>
          <p:nvPr/>
        </p:nvSpPr>
        <p:spPr>
          <a:xfrm>
            <a:off x="0" y="0"/>
            <a:ext cx="12192000" cy="6858000"/>
          </a:xfrm>
          <a:prstGeom prst="rect">
            <a:avLst/>
          </a:prstGeom>
          <a:gradFill>
            <a:gsLst>
              <a:gs pos="0">
                <a:srgbClr val="FCFCFD"/>
              </a:gs>
              <a:gs pos="62000">
                <a:srgbClr val="EEF0F3"/>
              </a:gs>
            </a:gsLst>
            <a:path path="circle">
              <a:fillToRect l="37721" t="-19636" r="62278" b="119636"/>
            </a:path>
          </a:gradFill>
          <a:ln w="12700">
            <a:miter lim="400000"/>
          </a:ln>
        </p:spPr>
        <p:txBody>
          <a:bodyPr lIns="45719" rIns="45719"/>
          <a:lstStyle/>
          <a:p>
            <a:pPr/>
          </a:p>
        </p:txBody>
      </p:sp>
      <p:sp>
        <p:nvSpPr>
          <p:cNvPr id="505" name="Text 3"/>
          <p:cNvSpPr txBox="1"/>
          <p:nvPr/>
        </p:nvSpPr>
        <p:spPr>
          <a:xfrm>
            <a:off x="812766" y="1290587"/>
            <a:ext cx="10883462" cy="66548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5000"/>
              </a:lnSpc>
              <a:defRPr b="1" spc="-200" sz="4800">
                <a:solidFill>
                  <a:srgbClr val="0E1116"/>
                </a:solidFill>
                <a:latin typeface="Geist"/>
                <a:ea typeface="Geist"/>
                <a:cs typeface="Geist"/>
                <a:sym typeface="Geist"/>
              </a:defRPr>
            </a:lvl1pPr>
          </a:lstStyle>
          <a:p>
            <a:pPr/>
            <a:r>
              <a:t>The Team</a:t>
            </a:r>
          </a:p>
        </p:txBody>
      </p:sp>
      <p:sp>
        <p:nvSpPr>
          <p:cNvPr id="506" name="Shape 4"/>
          <p:cNvSpPr/>
          <p:nvPr/>
        </p:nvSpPr>
        <p:spPr>
          <a:xfrm>
            <a:off x="815941" y="2933426"/>
            <a:ext cx="2520959" cy="1832836"/>
          </a:xfrm>
          <a:prstGeom prst="roundRect">
            <a:avLst>
              <a:gd name="adj" fmla="val 10913"/>
            </a:avLst>
          </a:prstGeom>
          <a:solidFill>
            <a:srgbClr val="0E1116">
              <a:alpha val="3000"/>
            </a:srgbClr>
          </a:solidFill>
          <a:ln w="6350">
            <a:solidFill>
              <a:srgbClr val="0E1116">
                <a:alpha val="6000"/>
              </a:srgbClr>
            </a:solidFill>
          </a:ln>
        </p:spPr>
        <p:txBody>
          <a:bodyPr lIns="45719" rIns="45719"/>
          <a:lstStyle/>
          <a:p>
            <a:pPr/>
          </a:p>
        </p:txBody>
      </p:sp>
      <p:sp>
        <p:nvSpPr>
          <p:cNvPr id="507" name="Shape 5"/>
          <p:cNvSpPr/>
          <p:nvPr/>
        </p:nvSpPr>
        <p:spPr>
          <a:xfrm>
            <a:off x="868824" y="2986310"/>
            <a:ext cx="2415192" cy="1727069"/>
          </a:xfrm>
          <a:prstGeom prst="roundRect">
            <a:avLst>
              <a:gd name="adj" fmla="val 8824"/>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508" name="Shape 6"/>
          <p:cNvSpPr/>
          <p:nvPr/>
        </p:nvSpPr>
        <p:spPr>
          <a:xfrm>
            <a:off x="1720825" y="3291085"/>
            <a:ext cx="711193" cy="711193"/>
          </a:xfrm>
          <a:prstGeom prst="roundRect">
            <a:avLst>
              <a:gd name="adj" fmla="val 50000"/>
            </a:avLst>
          </a:prstGeom>
          <a:solidFill>
            <a:srgbClr val="0E1116"/>
          </a:solidFill>
          <a:ln w="12700">
            <a:miter lim="400000"/>
          </a:ln>
        </p:spPr>
        <p:txBody>
          <a:bodyPr lIns="45719" rIns="45719"/>
          <a:lstStyle/>
          <a:p>
            <a:pPr/>
          </a:p>
        </p:txBody>
      </p:sp>
      <p:sp>
        <p:nvSpPr>
          <p:cNvPr id="509" name="Text 7"/>
          <p:cNvSpPr txBox="1"/>
          <p:nvPr/>
        </p:nvSpPr>
        <p:spPr>
          <a:xfrm>
            <a:off x="1965812" y="3433290"/>
            <a:ext cx="271976"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300"/>
              </a:lnSpc>
              <a:defRPr b="1" sz="2400">
                <a:solidFill>
                  <a:srgbClr val="F2F4F7"/>
                </a:solidFill>
                <a:latin typeface="Geist"/>
                <a:ea typeface="Geist"/>
                <a:cs typeface="Geist"/>
                <a:sym typeface="Geist"/>
              </a:defRPr>
            </a:lvl1pPr>
          </a:lstStyle>
          <a:p>
            <a:pPr/>
            <a:r>
              <a:t>G</a:t>
            </a:r>
          </a:p>
        </p:txBody>
      </p:sp>
      <p:sp>
        <p:nvSpPr>
          <p:cNvPr id="510" name="Text 8"/>
          <p:cNvSpPr txBox="1"/>
          <p:nvPr/>
        </p:nvSpPr>
        <p:spPr>
          <a:xfrm>
            <a:off x="973740" y="4129194"/>
            <a:ext cx="2205362"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ctr" defTabSz="658368">
              <a:lnSpc>
                <a:spcPts val="1700"/>
              </a:lnSpc>
              <a:defRPr b="1" spc="-97" sz="1944">
                <a:solidFill>
                  <a:srgbClr val="0E1116"/>
                </a:solidFill>
                <a:latin typeface="Geist"/>
                <a:ea typeface="Geist"/>
                <a:cs typeface="Geist"/>
                <a:sym typeface="Geist"/>
              </a:defRPr>
            </a:pPr>
            <a:r>
              <a:t>Giorgos </a:t>
            </a:r>
            <a:br/>
            <a:r>
              <a:t>Rizopoulos</a:t>
            </a:r>
          </a:p>
        </p:txBody>
      </p:sp>
      <p:sp>
        <p:nvSpPr>
          <p:cNvPr id="511" name="Shape 9"/>
          <p:cNvSpPr/>
          <p:nvPr/>
        </p:nvSpPr>
        <p:spPr>
          <a:xfrm>
            <a:off x="3495633" y="2933426"/>
            <a:ext cx="2521001" cy="1832836"/>
          </a:xfrm>
          <a:prstGeom prst="roundRect">
            <a:avLst>
              <a:gd name="adj" fmla="val 10913"/>
            </a:avLst>
          </a:prstGeom>
          <a:solidFill>
            <a:srgbClr val="0E1116">
              <a:alpha val="3000"/>
            </a:srgbClr>
          </a:solidFill>
          <a:ln w="6350">
            <a:solidFill>
              <a:srgbClr val="0E1116">
                <a:alpha val="6000"/>
              </a:srgbClr>
            </a:solidFill>
          </a:ln>
        </p:spPr>
        <p:txBody>
          <a:bodyPr lIns="45719" rIns="45719"/>
          <a:lstStyle/>
          <a:p>
            <a:pPr/>
          </a:p>
        </p:txBody>
      </p:sp>
      <p:sp>
        <p:nvSpPr>
          <p:cNvPr id="512" name="Shape 10"/>
          <p:cNvSpPr/>
          <p:nvPr/>
        </p:nvSpPr>
        <p:spPr>
          <a:xfrm>
            <a:off x="3548517" y="2986310"/>
            <a:ext cx="2415233" cy="1727069"/>
          </a:xfrm>
          <a:prstGeom prst="roundRect">
            <a:avLst>
              <a:gd name="adj" fmla="val 8824"/>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513" name="Shape 11"/>
          <p:cNvSpPr/>
          <p:nvPr/>
        </p:nvSpPr>
        <p:spPr>
          <a:xfrm>
            <a:off x="4400517" y="3291085"/>
            <a:ext cx="711193" cy="711193"/>
          </a:xfrm>
          <a:prstGeom prst="roundRect">
            <a:avLst>
              <a:gd name="adj" fmla="val 50000"/>
            </a:avLst>
          </a:prstGeom>
          <a:solidFill>
            <a:srgbClr val="E6E8EC"/>
          </a:solidFill>
          <a:ln w="12700">
            <a:miter lim="400000"/>
          </a:ln>
        </p:spPr>
        <p:txBody>
          <a:bodyPr lIns="45719" rIns="45719"/>
          <a:lstStyle/>
          <a:p>
            <a:pPr/>
          </a:p>
        </p:txBody>
      </p:sp>
      <p:sp>
        <p:nvSpPr>
          <p:cNvPr id="514" name="Text 12"/>
          <p:cNvSpPr txBox="1"/>
          <p:nvPr/>
        </p:nvSpPr>
        <p:spPr>
          <a:xfrm>
            <a:off x="4653607" y="3433290"/>
            <a:ext cx="255770"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300"/>
              </a:lnSpc>
              <a:defRPr b="1" sz="2400">
                <a:solidFill>
                  <a:srgbClr val="30343C"/>
                </a:solidFill>
                <a:latin typeface="Geist"/>
                <a:ea typeface="Geist"/>
                <a:cs typeface="Geist"/>
                <a:sym typeface="Geist"/>
              </a:defRPr>
            </a:lvl1pPr>
          </a:lstStyle>
          <a:p>
            <a:pPr/>
            <a:r>
              <a:t>K</a:t>
            </a:r>
          </a:p>
        </p:txBody>
      </p:sp>
      <p:sp>
        <p:nvSpPr>
          <p:cNvPr id="515" name="Shape 14"/>
          <p:cNvSpPr/>
          <p:nvPr/>
        </p:nvSpPr>
        <p:spPr>
          <a:xfrm>
            <a:off x="6175366" y="2933426"/>
            <a:ext cx="2520959" cy="1832836"/>
          </a:xfrm>
          <a:prstGeom prst="roundRect">
            <a:avLst>
              <a:gd name="adj" fmla="val 10913"/>
            </a:avLst>
          </a:prstGeom>
          <a:solidFill>
            <a:srgbClr val="0E1116">
              <a:alpha val="3000"/>
            </a:srgbClr>
          </a:solidFill>
          <a:ln w="6350">
            <a:solidFill>
              <a:srgbClr val="0E1116">
                <a:alpha val="6000"/>
              </a:srgbClr>
            </a:solidFill>
          </a:ln>
        </p:spPr>
        <p:txBody>
          <a:bodyPr lIns="45719" rIns="45719"/>
          <a:lstStyle/>
          <a:p>
            <a:pPr/>
          </a:p>
        </p:txBody>
      </p:sp>
      <p:sp>
        <p:nvSpPr>
          <p:cNvPr id="516" name="Shape 15"/>
          <p:cNvSpPr/>
          <p:nvPr/>
        </p:nvSpPr>
        <p:spPr>
          <a:xfrm>
            <a:off x="6228250" y="2986310"/>
            <a:ext cx="2415192" cy="1727069"/>
          </a:xfrm>
          <a:prstGeom prst="roundRect">
            <a:avLst>
              <a:gd name="adj" fmla="val 8824"/>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517" name="Shape 16"/>
          <p:cNvSpPr/>
          <p:nvPr/>
        </p:nvSpPr>
        <p:spPr>
          <a:xfrm>
            <a:off x="7080250" y="3291085"/>
            <a:ext cx="711193" cy="711193"/>
          </a:xfrm>
          <a:prstGeom prst="roundRect">
            <a:avLst>
              <a:gd name="adj" fmla="val 50000"/>
            </a:avLst>
          </a:prstGeom>
          <a:solidFill>
            <a:srgbClr val="E6E8EC"/>
          </a:solidFill>
          <a:ln w="12700">
            <a:miter lim="400000"/>
          </a:ln>
        </p:spPr>
        <p:txBody>
          <a:bodyPr lIns="45719" rIns="45719"/>
          <a:lstStyle/>
          <a:p>
            <a:pPr/>
          </a:p>
        </p:txBody>
      </p:sp>
      <p:sp>
        <p:nvSpPr>
          <p:cNvPr id="518" name="Text 17"/>
          <p:cNvSpPr txBox="1"/>
          <p:nvPr/>
        </p:nvSpPr>
        <p:spPr>
          <a:xfrm>
            <a:off x="7327882" y="3433290"/>
            <a:ext cx="266726"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300"/>
              </a:lnSpc>
              <a:defRPr b="1" sz="2400">
                <a:solidFill>
                  <a:srgbClr val="30343C"/>
                </a:solidFill>
                <a:latin typeface="Geist"/>
                <a:ea typeface="Geist"/>
                <a:cs typeface="Geist"/>
                <a:sym typeface="Geist"/>
              </a:defRPr>
            </a:lvl1pPr>
          </a:lstStyle>
          <a:p>
            <a:pPr/>
            <a:r>
              <a:t>D</a:t>
            </a:r>
          </a:p>
        </p:txBody>
      </p:sp>
      <p:sp>
        <p:nvSpPr>
          <p:cNvPr id="519" name="Text 18"/>
          <p:cNvSpPr txBox="1"/>
          <p:nvPr/>
        </p:nvSpPr>
        <p:spPr>
          <a:xfrm>
            <a:off x="6333166" y="4065838"/>
            <a:ext cx="2205358" cy="57883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ctr" defTabSz="868680">
              <a:lnSpc>
                <a:spcPts val="2200"/>
              </a:lnSpc>
              <a:defRPr b="1" spc="-104" sz="2090">
                <a:solidFill>
                  <a:srgbClr val="0E1116"/>
                </a:solidFill>
                <a:latin typeface="Geist"/>
                <a:ea typeface="Geist"/>
                <a:cs typeface="Geist"/>
                <a:sym typeface="Geist"/>
              </a:defRPr>
            </a:pPr>
            <a:r>
              <a:t>Dimitris </a:t>
            </a:r>
            <a:br/>
            <a:r>
              <a:t>Manos</a:t>
            </a:r>
          </a:p>
        </p:txBody>
      </p:sp>
      <p:sp>
        <p:nvSpPr>
          <p:cNvPr id="520" name="Shape 19"/>
          <p:cNvSpPr/>
          <p:nvPr/>
        </p:nvSpPr>
        <p:spPr>
          <a:xfrm>
            <a:off x="8855057" y="2933426"/>
            <a:ext cx="2521001" cy="1832836"/>
          </a:xfrm>
          <a:prstGeom prst="roundRect">
            <a:avLst>
              <a:gd name="adj" fmla="val 10913"/>
            </a:avLst>
          </a:prstGeom>
          <a:solidFill>
            <a:srgbClr val="0E1116">
              <a:alpha val="3000"/>
            </a:srgbClr>
          </a:solidFill>
          <a:ln w="6350">
            <a:solidFill>
              <a:srgbClr val="0E1116">
                <a:alpha val="6000"/>
              </a:srgbClr>
            </a:solidFill>
          </a:ln>
        </p:spPr>
        <p:txBody>
          <a:bodyPr lIns="45719" rIns="45719"/>
          <a:lstStyle/>
          <a:p>
            <a:pPr/>
          </a:p>
        </p:txBody>
      </p:sp>
      <p:sp>
        <p:nvSpPr>
          <p:cNvPr id="521" name="Shape 20"/>
          <p:cNvSpPr/>
          <p:nvPr/>
        </p:nvSpPr>
        <p:spPr>
          <a:xfrm>
            <a:off x="8907942" y="2986310"/>
            <a:ext cx="2415233" cy="1727069"/>
          </a:xfrm>
          <a:prstGeom prst="roundRect">
            <a:avLst>
              <a:gd name="adj" fmla="val 8824"/>
            </a:avLst>
          </a:prstGeom>
          <a:solidFill>
            <a:srgbClr val="FFFFFF"/>
          </a:solidFill>
          <a:ln w="12700">
            <a:miter lim="400000"/>
          </a:ln>
          <a:effectLst>
            <a:outerShdw sx="100000" sy="100000" kx="0" ky="0" algn="b" rotWithShape="0" blurRad="12700" dist="6350" dir="5400000">
              <a:srgbClr val="0E1116">
                <a:alpha val="4000"/>
              </a:srgbClr>
            </a:outerShdw>
          </a:effectLst>
        </p:spPr>
        <p:txBody>
          <a:bodyPr lIns="45719" rIns="45719"/>
          <a:lstStyle/>
          <a:p>
            <a:pPr/>
          </a:p>
        </p:txBody>
      </p:sp>
      <p:sp>
        <p:nvSpPr>
          <p:cNvPr id="522" name="Shape 21"/>
          <p:cNvSpPr/>
          <p:nvPr/>
        </p:nvSpPr>
        <p:spPr>
          <a:xfrm>
            <a:off x="9759940" y="3291085"/>
            <a:ext cx="711193" cy="711193"/>
          </a:xfrm>
          <a:prstGeom prst="roundRect">
            <a:avLst>
              <a:gd name="adj" fmla="val 50000"/>
            </a:avLst>
          </a:prstGeom>
          <a:solidFill>
            <a:srgbClr val="E6E8EC"/>
          </a:solidFill>
          <a:ln w="12700">
            <a:miter lim="400000"/>
          </a:ln>
        </p:spPr>
        <p:txBody>
          <a:bodyPr lIns="45719" rIns="45719"/>
          <a:lstStyle/>
          <a:p>
            <a:pPr/>
          </a:p>
        </p:txBody>
      </p:sp>
      <p:sp>
        <p:nvSpPr>
          <p:cNvPr id="523" name="Text 22"/>
          <p:cNvSpPr txBox="1"/>
          <p:nvPr/>
        </p:nvSpPr>
        <p:spPr>
          <a:xfrm>
            <a:off x="10013776" y="3433290"/>
            <a:ext cx="254323"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3300"/>
              </a:lnSpc>
              <a:defRPr b="1" sz="2400">
                <a:solidFill>
                  <a:srgbClr val="30343C"/>
                </a:solidFill>
                <a:latin typeface="Geist"/>
                <a:ea typeface="Geist"/>
                <a:cs typeface="Geist"/>
                <a:sym typeface="Geist"/>
              </a:defRPr>
            </a:lvl1pPr>
          </a:lstStyle>
          <a:p>
            <a:pPr/>
            <a:r>
              <a:t>S</a:t>
            </a:r>
          </a:p>
        </p:txBody>
      </p:sp>
      <p:sp>
        <p:nvSpPr>
          <p:cNvPr id="524" name="Text 23"/>
          <p:cNvSpPr txBox="1"/>
          <p:nvPr/>
        </p:nvSpPr>
        <p:spPr>
          <a:xfrm>
            <a:off x="9013735" y="4065838"/>
            <a:ext cx="2254405" cy="578835"/>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ctr" defTabSz="868680">
              <a:lnSpc>
                <a:spcPts val="2200"/>
              </a:lnSpc>
              <a:defRPr b="1" spc="-104" sz="2090">
                <a:solidFill>
                  <a:srgbClr val="0E1116"/>
                </a:solidFill>
                <a:latin typeface="Geist"/>
                <a:ea typeface="Geist"/>
                <a:cs typeface="Geist"/>
                <a:sym typeface="Geist"/>
              </a:defRPr>
            </a:pPr>
            <a:r>
              <a:t>Stavros</a:t>
            </a:r>
            <a:br/>
            <a:r>
              <a:t>Manesis</a:t>
            </a:r>
          </a:p>
        </p:txBody>
      </p:sp>
      <p:sp>
        <p:nvSpPr>
          <p:cNvPr id="525" name="Text 8"/>
          <p:cNvSpPr txBox="1"/>
          <p:nvPr/>
        </p:nvSpPr>
        <p:spPr>
          <a:xfrm>
            <a:off x="3653453" y="4129194"/>
            <a:ext cx="2205362" cy="452123"/>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lgn="ctr" defTabSz="658368">
              <a:lnSpc>
                <a:spcPts val="1700"/>
              </a:lnSpc>
              <a:defRPr b="1" spc="-97" sz="1944">
                <a:solidFill>
                  <a:srgbClr val="0E1116"/>
                </a:solidFill>
                <a:latin typeface="Geist"/>
                <a:ea typeface="Geist"/>
                <a:cs typeface="Geist"/>
                <a:sym typeface="Geist"/>
              </a:defRPr>
            </a:pPr>
            <a:r>
              <a:t>Konstantinos</a:t>
            </a:r>
          </a:p>
          <a:p>
            <a:pPr algn="ctr" defTabSz="658368">
              <a:lnSpc>
                <a:spcPts val="1700"/>
              </a:lnSpc>
              <a:defRPr b="1" spc="-97" sz="1944">
                <a:solidFill>
                  <a:srgbClr val="0E1116"/>
                </a:solidFill>
                <a:latin typeface="Geist"/>
                <a:ea typeface="Geist"/>
                <a:cs typeface="Geist"/>
                <a:sym typeface="Geist"/>
              </a:defRPr>
            </a:pPr>
            <a:r>
              <a:t>Tsekouras</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32A3A"/>
        </a:solidFill>
      </p:bgPr>
    </p:bg>
    <p:spTree>
      <p:nvGrpSpPr>
        <p:cNvPr id="1" name=""/>
        <p:cNvGrpSpPr/>
        <p:nvPr/>
      </p:nvGrpSpPr>
      <p:grpSpPr>
        <a:xfrm>
          <a:off x="0" y="0"/>
          <a:ext cx="0" cy="0"/>
          <a:chOff x="0" y="0"/>
          <a:chExt cx="0" cy="0"/>
        </a:xfrm>
      </p:grpSpPr>
      <p:sp>
        <p:nvSpPr>
          <p:cNvPr id="529" name="Shape 0"/>
          <p:cNvSpPr/>
          <p:nvPr/>
        </p:nvSpPr>
        <p:spPr>
          <a:xfrm>
            <a:off x="0" y="0"/>
            <a:ext cx="12192000" cy="6858000"/>
          </a:xfrm>
          <a:prstGeom prst="rect">
            <a:avLst/>
          </a:prstGeom>
          <a:gradFill>
            <a:gsLst>
              <a:gs pos="0">
                <a:srgbClr val="232A3A"/>
              </a:gs>
              <a:gs pos="60000">
                <a:srgbClr val="0E1116"/>
              </a:gs>
            </a:gsLst>
            <a:path path="circle">
              <a:fillToRect l="119636" t="37721" r="-19636" b="62278"/>
            </a:path>
          </a:gradFill>
          <a:ln w="12700">
            <a:miter lim="400000"/>
          </a:ln>
        </p:spPr>
        <p:txBody>
          <a:bodyPr lIns="45719" rIns="45719"/>
          <a:lstStyle/>
          <a:p>
            <a:pPr/>
          </a:p>
        </p:txBody>
      </p:sp>
      <p:sp>
        <p:nvSpPr>
          <p:cNvPr id="530" name="Shape 1"/>
          <p:cNvSpPr/>
          <p:nvPr/>
        </p:nvSpPr>
        <p:spPr>
          <a:xfrm>
            <a:off x="4823883" y="1963935"/>
            <a:ext cx="2544234" cy="293705"/>
          </a:xfrm>
          <a:prstGeom prst="roundRect">
            <a:avLst>
              <a:gd name="adj" fmla="val 50000"/>
            </a:avLst>
          </a:prstGeom>
          <a:solidFill>
            <a:srgbClr val="FFFFFF">
              <a:alpha val="6000"/>
            </a:srgbClr>
          </a:solidFill>
          <a:ln w="6350">
            <a:solidFill>
              <a:srgbClr val="FFFFFF">
                <a:alpha val="12000"/>
              </a:srgbClr>
            </a:solidFill>
          </a:ln>
        </p:spPr>
        <p:txBody>
          <a:bodyPr lIns="45719" rIns="45719"/>
          <a:lstStyle/>
          <a:p>
            <a:pPr/>
          </a:p>
        </p:txBody>
      </p:sp>
      <p:sp>
        <p:nvSpPr>
          <p:cNvPr id="531" name="Text 2"/>
          <p:cNvSpPr txBox="1"/>
          <p:nvPr/>
        </p:nvSpPr>
        <p:spPr>
          <a:xfrm>
            <a:off x="4953000" y="2004153"/>
            <a:ext cx="2354580" cy="23867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ctr">
              <a:lnSpc>
                <a:spcPts val="1600"/>
              </a:lnSpc>
              <a:defRPr sz="1200">
                <a:solidFill>
                  <a:srgbClr val="A6ACB8"/>
                </a:solidFill>
                <a:latin typeface="Geist Mono"/>
                <a:ea typeface="Geist Mono"/>
                <a:cs typeface="Geist Mono"/>
                <a:sym typeface="Geist Mono"/>
              </a:defRPr>
            </a:lvl1pPr>
          </a:lstStyle>
          <a:p>
            <a:pPr/>
            <a:r>
              <a:t>Fair Grade · Team Byte Me</a:t>
            </a:r>
          </a:p>
        </p:txBody>
      </p:sp>
      <p:sp>
        <p:nvSpPr>
          <p:cNvPr id="532" name="Text 3"/>
          <p:cNvSpPr txBox="1"/>
          <p:nvPr/>
        </p:nvSpPr>
        <p:spPr>
          <a:xfrm>
            <a:off x="1190625" y="2565586"/>
            <a:ext cx="9810750" cy="1518891"/>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gn="ctr">
              <a:lnSpc>
                <a:spcPts val="5800"/>
              </a:lnSpc>
              <a:defRPr b="1" spc="-200" sz="5600">
                <a:solidFill>
                  <a:srgbClr val="F2F4F7"/>
                </a:solidFill>
                <a:latin typeface="Geist"/>
                <a:ea typeface="Geist"/>
                <a:cs typeface="Geist"/>
                <a:sym typeface="Geist"/>
              </a:defRPr>
            </a:lvl1pPr>
          </a:lstStyle>
          <a:p>
            <a:pPr/>
            <a:r>
              <a:t>Catch unfair grading before your students do.</a:t>
            </a:r>
          </a:p>
        </p:txBody>
      </p:sp>
      <p:sp>
        <p:nvSpPr>
          <p:cNvPr id="533" name="Shape 4"/>
          <p:cNvSpPr/>
          <p:nvPr/>
        </p:nvSpPr>
        <p:spPr>
          <a:xfrm>
            <a:off x="4581880" y="4363839"/>
            <a:ext cx="3028198" cy="533384"/>
          </a:xfrm>
          <a:prstGeom prst="roundRect">
            <a:avLst>
              <a:gd name="adj" fmla="val 50000"/>
            </a:avLst>
          </a:prstGeom>
          <a:solidFill>
            <a:srgbClr val="F2F4F7"/>
          </a:solidFill>
          <a:ln w="12700">
            <a:miter lim="400000"/>
          </a:ln>
        </p:spPr>
        <p:txBody>
          <a:bodyPr lIns="45719" rIns="45719"/>
          <a:lstStyle/>
          <a:p>
            <a:pPr/>
          </a:p>
        </p:txBody>
      </p:sp>
      <p:sp>
        <p:nvSpPr>
          <p:cNvPr id="534" name="Text 5"/>
          <p:cNvSpPr txBox="1"/>
          <p:nvPr/>
        </p:nvSpPr>
        <p:spPr>
          <a:xfrm>
            <a:off x="4835880" y="4488284"/>
            <a:ext cx="2255706" cy="309869"/>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ts val="2200"/>
              </a:lnSpc>
              <a:defRPr b="1" sz="1600">
                <a:solidFill>
                  <a:srgbClr val="0E1116"/>
                </a:solidFill>
                <a:latin typeface="Geist"/>
                <a:ea typeface="Geist"/>
                <a:cs typeface="Geist"/>
                <a:sym typeface="Geist"/>
              </a:defRPr>
            </a:lvl1pPr>
          </a:lstStyle>
          <a:p>
            <a:pPr/>
            <a:r>
              <a:t>Thank you. Questions?</a:t>
            </a:r>
          </a:p>
        </p:txBody>
      </p:sp>
      <p:sp>
        <p:nvSpPr>
          <p:cNvPr id="535" name="Shape 6"/>
          <p:cNvSpPr/>
          <p:nvPr/>
        </p:nvSpPr>
        <p:spPr>
          <a:xfrm>
            <a:off x="7152885" y="4440039"/>
            <a:ext cx="381001" cy="381001"/>
          </a:xfrm>
          <a:prstGeom prst="roundRect">
            <a:avLst>
              <a:gd name="adj" fmla="val 50000"/>
            </a:avLst>
          </a:prstGeom>
          <a:solidFill>
            <a:srgbClr val="0E1116"/>
          </a:solidFill>
          <a:ln w="12700">
            <a:miter lim="400000"/>
          </a:ln>
        </p:spPr>
        <p:txBody>
          <a:bodyPr lIns="45719" rIns="45719"/>
          <a:lstStyle/>
          <a:p>
            <a:pPr/>
          </a:p>
        </p:txBody>
      </p:sp>
      <p:pic>
        <p:nvPicPr>
          <p:cNvPr id="536" name="Image 0" descr="Image 0"/>
          <p:cNvPicPr>
            <a:picLocks noChangeAspect="1"/>
          </p:cNvPicPr>
          <p:nvPr/>
        </p:nvPicPr>
        <p:blipFill>
          <a:blip r:embed="rId3">
            <a:extLst/>
          </a:blip>
          <a:stretch>
            <a:fillRect/>
          </a:stretch>
        </p:blipFill>
        <p:spPr>
          <a:xfrm>
            <a:off x="7254502" y="4541651"/>
            <a:ext cx="177768" cy="17776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